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10891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the capstone project presentation. Today we will present a comparative analysis of two diverse datasets, exploring how exploratory data analysis and appropriate correlation coefficients allow us to extract meaningful, mathematically reliable insights from raw numbers.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lays out our data environment. We analyze two distinct datasets. The Video GameReviews dataset has 60 unique player entries, allowing us to evaluate continuous relationships. The Health Monitoring dataset has 120 unique patient records, providing an ideal sample for grouping by age bracket and analyzing binary-to-continuous associations.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presents the five-number summary and summary statistics for player reviews. The key takeaways are that reviews are highly consistent, </a:t>
            </a:r>
            <a:r>
              <a:rPr lang="en-IN" dirty="0"/>
              <a:t>approximately symmetric </a:t>
            </a:r>
            <a:r>
              <a:rPr dirty="0"/>
              <a:t>with a skewness of -0.06, and have no outliers whatsoever. This baseline of player sentiment is highly stable and represents broad user consensus.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Here we contrast review scores with playtime. Playtime is highly right-skewed at 1.28, with a mean of 16.33 hours and a max of 45 hours. The embedded box plot on the right displays the </a:t>
            </a:r>
            <a:r>
              <a:rPr lang="en-IN" dirty="0"/>
              <a:t>approximately symmetric </a:t>
            </a:r>
            <a:r>
              <a:rPr dirty="0"/>
              <a:t>of review</a:t>
            </a:r>
            <a:r>
              <a:rPr lang="en-IN" dirty="0"/>
              <a:t> </a:t>
            </a:r>
            <a:r>
              <a:rPr dirty="0"/>
              <a:t>scores, marking the median of 80.50 and the narrow whiskers with zero outliers.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introduces our grouped analysis of systolic blood pressure across age cohorts. The most striking finding is the non-linear relationship with age: the highest median blood pressure of 138.50 mmHg is found in the 40s group, not the 60+ group. The 60+ group exhibits the largest variability, reflecting diverse physiological aging profiles.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focuses on the 30s cohort's outliers. Because the IQR of the 30s group is extremely narrow (8.65 mmHg), its mathematical fences are very tight (113.78 to 148.38 mmHg). Consequently, four participants are identified as outliers. </a:t>
            </a:r>
            <a:r>
              <a:rPr lang="en-IN" dirty="0"/>
              <a:t>These observations are statistical outliers under the 1.5×IQR rule and should be interpreted as exploratory findings rather than clinical conclusions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justifies our selection of correlation coefficients. Selecting the correct statistical model is vital. For Video Games, both variables are continuous, which dictates Pearson. For Health, smoking status is binary and blood pressure is continuous, which dictates a Point-Biserial model. This ensures our analysis remains statistically sound and mathematically reliable.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presents our main correlation findings. Playtime and reviews are completely decoupled with r = 0.01 and p = 0.96. For smoking and BP, we see a weak negative r = -0.13 with a p-value of 0.16. Since both p-values exceed 0.05, neither relationship is statistically significant. We must emphasize that the negative smoking association is likely due to sampling noise and unmeasured lifestyle confounders.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this final slide, we deliver our strategic recommendations, study limitations, and a crucial clinical disclaimer. On the gaming side, we recommend focusing on narrative and mechanical quality over grind length. </a:t>
            </a:r>
            <a:r>
              <a:rPr lang="en-IN" dirty="0"/>
              <a:t>On the health monitoring side, the analysis highlights differences in blood pressure variability across age groups and identifies four statistical outliers in the 30s cohort. These findings are exploratory and require further investigation using larger datasets.</a:t>
            </a:r>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Rectangle 1"/>
          <p:cNvSpPr/>
          <p:nvPr/>
        </p:nvSpPr>
        <p:spPr>
          <a:xfrm>
            <a:off x="914400" y="1371600"/>
            <a:ext cx="10362895" cy="4114800"/>
          </a:xfrm>
          <a:prstGeom prst="rect">
            <a:avLst/>
          </a:prstGeom>
          <a:solidFill>
            <a:srgbClr val="FFFFFF"/>
          </a:solidFill>
          <a:ln w="19050">
            <a:solidFill>
              <a:srgbClr val="EAECEE"/>
            </a:solidFill>
          </a:ln>
        </p:spPr>
        <p:style>
          <a:lnRef idx="1">
            <a:schemeClr val="accent1"/>
          </a:lnRef>
          <a:fillRef idx="3">
            <a:schemeClr val="accent1"/>
          </a:fillRef>
          <a:effectRef idx="2">
            <a:schemeClr val="accent1"/>
          </a:effectRef>
          <a:fontRef idx="minor">
            <a:schemeClr val="lt1"/>
          </a:fontRef>
        </p:style>
        <p:txBody>
          <a:bodyPr wrap="square" lIns="457200" tIns="457200" rIns="457200" rtlCol="0" anchor="ctr"/>
          <a:lstStyle/>
          <a:p>
            <a:pPr algn="ctr">
              <a:spcAft>
                <a:spcPts val="1500"/>
              </a:spcAft>
            </a:pPr>
            <a:r>
              <a:rPr sz="3600" b="1" dirty="0">
                <a:solidFill>
                  <a:srgbClr val="0E6251"/>
                </a:solidFill>
                <a:latin typeface="Georgia"/>
              </a:rPr>
              <a:t>Visualizing Data Distributions and
Analyzing Relationships</a:t>
            </a:r>
          </a:p>
          <a:p>
            <a:pPr algn="ctr">
              <a:spcAft>
                <a:spcPts val="2500"/>
              </a:spcAft>
            </a:pPr>
            <a:r>
              <a:rPr sz="1600" i="1" dirty="0">
                <a:solidFill>
                  <a:srgbClr val="D35400"/>
                </a:solidFill>
                <a:latin typeface="Georgia"/>
              </a:rPr>
              <a:t>A Comparative Statistical Analysis of Video Game Player Metrics and Health Monitoring Indicators</a:t>
            </a:r>
          </a:p>
          <a:p>
            <a:pPr algn="ctr"/>
            <a:r>
              <a:rPr sz="1200" dirty="0">
                <a:solidFill>
                  <a:srgbClr val="707B7C"/>
                </a:solidFill>
                <a:latin typeface="Arial"/>
              </a:rPr>
              <a:t>Capstone Project Final Report Presentation  |  </a:t>
            </a:r>
            <a:r>
              <a:rPr lang="en-IN" sz="1200" dirty="0">
                <a:solidFill>
                  <a:srgbClr val="707B7C"/>
                </a:solidFill>
                <a:latin typeface="Arial"/>
              </a:rPr>
              <a:t>Barsha Barman </a:t>
            </a:r>
            <a:r>
              <a:rPr sz="1200" dirty="0">
                <a:solidFill>
                  <a:srgbClr val="707B7C"/>
                </a:solidFill>
                <a:latin typeface="Arial"/>
              </a:rPr>
              <a:t>(</a:t>
            </a:r>
            <a:r>
              <a:rPr lang="en-IN" sz="1200" dirty="0">
                <a:solidFill>
                  <a:srgbClr val="707B7C"/>
                </a:solidFill>
                <a:latin typeface="Arial"/>
              </a:rPr>
              <a:t>B25BS3109</a:t>
            </a:r>
            <a:r>
              <a:rPr sz="1200" dirty="0">
                <a:solidFill>
                  <a:srgbClr val="707B7C"/>
                </a:solidFill>
                <a:latin typeface="Arial"/>
              </a:rPr>
              <a:t>)  |  </a:t>
            </a:r>
            <a:r>
              <a:rPr lang="en-IN" sz="1200" dirty="0">
                <a:solidFill>
                  <a:srgbClr val="707B7C"/>
                </a:solidFill>
                <a:latin typeface="Arial"/>
              </a:rPr>
              <a:t>COHORT - 5</a:t>
            </a:r>
            <a:endParaRPr sz="1200" dirty="0">
              <a:solidFill>
                <a:srgbClr val="707B7C"/>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731520"/>
          </a:xfrm>
          <a:prstGeom prst="rect">
            <a:avLst/>
          </a:prstGeom>
          <a:noFill/>
        </p:spPr>
        <p:txBody>
          <a:bodyPr wrap="square" lIns="0" tIns="0" rIns="0" bIns="0">
            <a:spAutoFit/>
          </a:bodyPr>
          <a:lstStyle/>
          <a:p>
            <a:pPr>
              <a:defRPr sz="2400" b="1">
                <a:solidFill>
                  <a:srgbClr val="0E6251"/>
                </a:solidFill>
                <a:latin typeface="Georgia"/>
              </a:defRPr>
            </a:pPr>
            <a:r>
              <a:t>Two Diverse Datasets Capture 60 Player Reviews and 120 Health Profiles</a:t>
            </a:r>
          </a:p>
        </p:txBody>
      </p:sp>
      <p:sp>
        <p:nvSpPr>
          <p:cNvPr id="3" name="Rectangle 2"/>
          <p:cNvSpPr/>
          <p:nvPr/>
        </p:nvSpPr>
        <p:spPr>
          <a:xfrm>
            <a:off x="457200" y="1097280"/>
            <a:ext cx="11277295" cy="25400"/>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63040"/>
            <a:ext cx="5394960" cy="4572000"/>
          </a:xfrm>
          <a:prstGeom prst="rect">
            <a:avLst/>
          </a:prstGeom>
          <a:solidFill>
            <a:srgbClr val="FFFFFF"/>
          </a:solidFill>
          <a:ln>
            <a:solidFill>
              <a:srgbClr val="EAECEE"/>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l">
              <a:spcBef>
                <a:spcPts val="0"/>
              </a:spcBef>
              <a:spcAft>
                <a:spcPts val="1200"/>
              </a:spcAft>
            </a:pPr>
            <a:r>
              <a:rPr sz="1600" b="1" i="0">
                <a:solidFill>
                  <a:srgbClr val="0E6251"/>
                </a:solidFill>
                <a:latin typeface="Arial"/>
              </a:rPr>
              <a:t>1. Video Game Reviews Dataset (N = 60)</a:t>
            </a:r>
          </a:p>
          <a:p>
            <a:pPr algn="l">
              <a:spcBef>
                <a:spcPts val="0"/>
              </a:spcBef>
              <a:spcAft>
                <a:spcPts val="800"/>
              </a:spcAft>
            </a:pPr>
            <a:r>
              <a:rPr sz="1300" b="0" i="0">
                <a:solidFill>
                  <a:srgbClr val="1C2833"/>
                </a:solidFill>
                <a:latin typeface="Arial"/>
              </a:rPr>
              <a:t>Core objective: Evaluate playing habits and player satisfaction of a newly launched title.</a:t>
            </a:r>
          </a:p>
          <a:p>
            <a:pPr algn="l">
              <a:spcBef>
                <a:spcPts val="0"/>
              </a:spcBef>
              <a:spcAft>
                <a:spcPts val="400"/>
              </a:spcAft>
            </a:pPr>
            <a:r>
              <a:rPr sz="1300" b="1" i="0">
                <a:solidFill>
                  <a:srgbClr val="1C2833"/>
                </a:solidFill>
                <a:latin typeface="Arial"/>
              </a:rPr>
              <a:t>Variables Analyzed:</a:t>
            </a:r>
          </a:p>
          <a:p>
            <a:pPr algn="l">
              <a:spcBef>
                <a:spcPts val="0"/>
              </a:spcBef>
              <a:spcAft>
                <a:spcPts val="400"/>
              </a:spcAft>
            </a:pPr>
            <a:r>
              <a:rPr sz="1200" b="0" i="0">
                <a:solidFill>
                  <a:srgbClr val="1C2833"/>
                </a:solidFill>
                <a:latin typeface="Arial"/>
              </a:rPr>
              <a:t>- Player ID: Unique identifier for each player (Categorical/Nominal)</a:t>
            </a:r>
          </a:p>
          <a:p>
            <a:pPr algn="l">
              <a:spcBef>
                <a:spcPts val="0"/>
              </a:spcBef>
              <a:spcAft>
                <a:spcPts val="400"/>
              </a:spcAft>
            </a:pPr>
            <a:r>
              <a:rPr sz="1200" b="0" i="0">
                <a:solidFill>
                  <a:srgbClr val="1C2833"/>
                </a:solidFill>
                <a:latin typeface="Arial"/>
              </a:rPr>
              <a:t>- Hours Played: Total gaming time logged (Continuous Numerical)</a:t>
            </a:r>
          </a:p>
          <a:p>
            <a:pPr algn="l">
              <a:spcBef>
                <a:spcPts val="0"/>
              </a:spcBef>
              <a:spcAft>
                <a:spcPts val="1200"/>
              </a:spcAft>
            </a:pPr>
            <a:r>
              <a:rPr sz="1200" b="0" i="0">
                <a:solidFill>
                  <a:srgbClr val="1C2833"/>
                </a:solidFill>
                <a:latin typeface="Arial"/>
              </a:rPr>
              <a:t>- Review Score: Player satisfaction score out of 100 (Continuous Numerical)</a:t>
            </a:r>
          </a:p>
          <a:p>
            <a:pPr algn="l">
              <a:spcBef>
                <a:spcPts val="0"/>
              </a:spcBef>
              <a:spcAft>
                <a:spcPts val="600"/>
              </a:spcAft>
            </a:pPr>
            <a:r>
              <a:rPr sz="1200" b="0" i="1">
                <a:solidFill>
                  <a:srgbClr val="1C2833"/>
                </a:solidFill>
                <a:latin typeface="Arial"/>
              </a:rPr>
              <a:t>Statistical Focus: Testing the commercial hypothesis that extended game engagement directly drives higher satisfaction ratings.</a:t>
            </a:r>
          </a:p>
        </p:txBody>
      </p:sp>
      <p:sp>
        <p:nvSpPr>
          <p:cNvPr id="5" name="Rectangle 4"/>
          <p:cNvSpPr/>
          <p:nvPr/>
        </p:nvSpPr>
        <p:spPr>
          <a:xfrm>
            <a:off x="6339535" y="1463040"/>
            <a:ext cx="5394960" cy="4572000"/>
          </a:xfrm>
          <a:prstGeom prst="rect">
            <a:avLst/>
          </a:prstGeom>
          <a:solidFill>
            <a:srgbClr val="FFFFFF"/>
          </a:solidFill>
          <a:ln>
            <a:solidFill>
              <a:srgbClr val="EAECEE"/>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l">
              <a:spcBef>
                <a:spcPts val="0"/>
              </a:spcBef>
              <a:spcAft>
                <a:spcPts val="1200"/>
              </a:spcAft>
            </a:pPr>
            <a:r>
              <a:rPr sz="1600" b="1" i="0">
                <a:solidFill>
                  <a:srgbClr val="0E6251"/>
                </a:solidFill>
                <a:latin typeface="Arial"/>
              </a:rPr>
              <a:t>2. Health Monitoring Dataset (N = 120)</a:t>
            </a:r>
          </a:p>
          <a:p>
            <a:pPr algn="l">
              <a:spcBef>
                <a:spcPts val="0"/>
              </a:spcBef>
              <a:spcAft>
                <a:spcPts val="800"/>
              </a:spcAft>
            </a:pPr>
            <a:r>
              <a:rPr sz="1300" b="0" i="0">
                <a:solidFill>
                  <a:srgbClr val="1C2833"/>
                </a:solidFill>
                <a:latin typeface="Arial"/>
              </a:rPr>
              <a:t>Core objective: Assess cardiovascular metrics and demographic lifestyle profiles.</a:t>
            </a:r>
          </a:p>
          <a:p>
            <a:pPr algn="l">
              <a:spcBef>
                <a:spcPts val="0"/>
              </a:spcBef>
              <a:spcAft>
                <a:spcPts val="400"/>
              </a:spcAft>
            </a:pPr>
            <a:r>
              <a:rPr sz="1300" b="1" i="0">
                <a:solidFill>
                  <a:srgbClr val="1C2833"/>
                </a:solidFill>
                <a:latin typeface="Arial"/>
              </a:rPr>
              <a:t>Variables Analyzed:</a:t>
            </a:r>
          </a:p>
          <a:p>
            <a:pPr algn="l">
              <a:spcBef>
                <a:spcPts val="0"/>
              </a:spcBef>
              <a:spcAft>
                <a:spcPts val="400"/>
              </a:spcAft>
            </a:pPr>
            <a:r>
              <a:rPr sz="1200" b="0" i="0">
                <a:solidFill>
                  <a:srgbClr val="1C2833"/>
                </a:solidFill>
                <a:latin typeface="Arial"/>
              </a:rPr>
              <a:t>- Participant ID: Unique participant identifier (Categorical/Nominal)</a:t>
            </a:r>
          </a:p>
          <a:p>
            <a:pPr algn="l">
              <a:spcBef>
                <a:spcPts val="0"/>
              </a:spcBef>
              <a:spcAft>
                <a:spcPts val="400"/>
              </a:spcAft>
            </a:pPr>
            <a:r>
              <a:rPr sz="1200" b="0" i="0">
                <a:solidFill>
                  <a:srgbClr val="1C2833"/>
                </a:solidFill>
                <a:latin typeface="Arial"/>
              </a:rPr>
              <a:t>- Age: Participant age, grouped into brackets (20s, 30s, 40s, 50s, 60+)</a:t>
            </a:r>
          </a:p>
          <a:p>
            <a:pPr algn="l">
              <a:spcBef>
                <a:spcPts val="0"/>
              </a:spcBef>
              <a:spcAft>
                <a:spcPts val="400"/>
              </a:spcAft>
            </a:pPr>
            <a:r>
              <a:rPr sz="1200" b="0" i="0">
                <a:solidFill>
                  <a:srgbClr val="1C2833"/>
                </a:solidFill>
                <a:latin typeface="Arial"/>
              </a:rPr>
              <a:t>- Blood Pressure (mmHg): Systolic measurement (Continuous Numerical)</a:t>
            </a:r>
          </a:p>
          <a:p>
            <a:pPr algn="l">
              <a:spcBef>
                <a:spcPts val="0"/>
              </a:spcBef>
              <a:spcAft>
                <a:spcPts val="1200"/>
              </a:spcAft>
            </a:pPr>
            <a:r>
              <a:rPr sz="1200" b="0" i="0">
                <a:solidFill>
                  <a:srgbClr val="1C2833"/>
                </a:solidFill>
                <a:latin typeface="Arial"/>
              </a:rPr>
              <a:t>- Smoking Status: Self-reported smoking habits (Binary Categorical: Yes/No)</a:t>
            </a:r>
          </a:p>
          <a:p>
            <a:pPr algn="l">
              <a:spcBef>
                <a:spcPts val="0"/>
              </a:spcBef>
              <a:spcAft>
                <a:spcPts val="600"/>
              </a:spcAft>
            </a:pPr>
            <a:r>
              <a:rPr sz="1200" b="0" i="1">
                <a:solidFill>
                  <a:srgbClr val="1C2833"/>
                </a:solidFill>
                <a:latin typeface="Arial"/>
              </a:rPr>
              <a:t>Statistical Focus: Evaluating blood pressure variation across age cohorts and testing associations with smoking behavior.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731520"/>
          </a:xfrm>
          <a:prstGeom prst="rect">
            <a:avLst/>
          </a:prstGeom>
          <a:noFill/>
        </p:spPr>
        <p:txBody>
          <a:bodyPr wrap="square" lIns="0" tIns="0" rIns="0" bIns="0">
            <a:spAutoFit/>
          </a:bodyPr>
          <a:lstStyle/>
          <a:p>
            <a:pPr>
              <a:defRPr sz="2400" b="1">
                <a:solidFill>
                  <a:srgbClr val="0E6251"/>
                </a:solidFill>
                <a:latin typeface="Georgia"/>
              </a:defRPr>
            </a:pPr>
            <a:r>
              <a:t>Review Scores Center at 80.50 with Symmetric Skewness of -0.06</a:t>
            </a:r>
          </a:p>
        </p:txBody>
      </p:sp>
      <p:sp>
        <p:nvSpPr>
          <p:cNvPr id="3" name="Rectangle 2"/>
          <p:cNvSpPr/>
          <p:nvPr/>
        </p:nvSpPr>
        <p:spPr>
          <a:xfrm>
            <a:off x="457200" y="1097280"/>
            <a:ext cx="11277295" cy="25400"/>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57200" y="1463040"/>
            <a:ext cx="3383280" cy="2011680"/>
          </a:xfrm>
          <a:prstGeom prst="roundRect">
            <a:avLst/>
          </a:prstGeom>
          <a:solidFill>
            <a:srgbClr val="FFFFFF"/>
          </a:solidFill>
          <a:ln w="12700">
            <a:solidFill>
              <a:srgbClr val="EAECEE"/>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Bef>
                <a:spcPts val="0"/>
              </a:spcBef>
              <a:spcAft>
                <a:spcPts val="400"/>
              </a:spcAft>
            </a:pPr>
            <a:r>
              <a:rPr sz="1100" b="1" i="0">
                <a:solidFill>
                  <a:srgbClr val="707B7C"/>
                </a:solidFill>
                <a:latin typeface="Arial"/>
              </a:rPr>
              <a:t>MEDIAN REVIEW SCORE</a:t>
            </a:r>
          </a:p>
          <a:p>
            <a:pPr algn="ctr">
              <a:spcBef>
                <a:spcPts val="0"/>
              </a:spcBef>
              <a:spcAft>
                <a:spcPts val="600"/>
              </a:spcAft>
            </a:pPr>
            <a:r>
              <a:rPr sz="3600" b="1" i="0">
                <a:solidFill>
                  <a:srgbClr val="0E6251"/>
                </a:solidFill>
                <a:latin typeface="Arial"/>
              </a:rPr>
              <a:t>80.50</a:t>
            </a:r>
          </a:p>
          <a:p>
            <a:pPr algn="ctr">
              <a:spcBef>
                <a:spcPts val="0"/>
              </a:spcBef>
              <a:spcAft>
                <a:spcPts val="600"/>
              </a:spcAft>
            </a:pPr>
            <a:r>
              <a:rPr sz="1100" b="0" i="1">
                <a:solidFill>
                  <a:srgbClr val="1C2833"/>
                </a:solidFill>
                <a:latin typeface="Arial"/>
              </a:rPr>
              <a:t>Mean: 80.62 | Mode: 89.00
Standard Deviation: 9.91</a:t>
            </a:r>
          </a:p>
        </p:txBody>
      </p:sp>
      <p:sp>
        <p:nvSpPr>
          <p:cNvPr id="5" name="Rounded Rectangle 4"/>
          <p:cNvSpPr/>
          <p:nvPr/>
        </p:nvSpPr>
        <p:spPr>
          <a:xfrm>
            <a:off x="4206240" y="1463040"/>
            <a:ext cx="3383280" cy="2011680"/>
          </a:xfrm>
          <a:prstGeom prst="roundRect">
            <a:avLst/>
          </a:prstGeom>
          <a:solidFill>
            <a:srgbClr val="FFFFFF"/>
          </a:solidFill>
          <a:ln w="12700">
            <a:solidFill>
              <a:srgbClr val="EAECEE"/>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Bef>
                <a:spcPts val="0"/>
              </a:spcBef>
              <a:spcAft>
                <a:spcPts val="400"/>
              </a:spcAft>
            </a:pPr>
            <a:r>
              <a:rPr sz="1100" b="1" i="0">
                <a:solidFill>
                  <a:srgbClr val="707B7C"/>
                </a:solidFill>
                <a:latin typeface="Arial"/>
              </a:rPr>
              <a:t>INTERQUARTILE RANGE (IQR)</a:t>
            </a:r>
          </a:p>
          <a:p>
            <a:pPr algn="ctr">
              <a:spcBef>
                <a:spcPts val="0"/>
              </a:spcBef>
              <a:spcAft>
                <a:spcPts val="600"/>
              </a:spcAft>
            </a:pPr>
            <a:r>
              <a:rPr sz="3600" b="1" i="0">
                <a:solidFill>
                  <a:srgbClr val="0E6251"/>
                </a:solidFill>
                <a:latin typeface="Arial"/>
              </a:rPr>
              <a:t>17.25</a:t>
            </a:r>
          </a:p>
          <a:p>
            <a:pPr algn="ctr">
              <a:spcBef>
                <a:spcPts val="0"/>
              </a:spcBef>
              <a:spcAft>
                <a:spcPts val="600"/>
              </a:spcAft>
            </a:pPr>
            <a:r>
              <a:rPr sz="1100" b="0" i="1">
                <a:solidFill>
                  <a:srgbClr val="1C2833"/>
                </a:solidFill>
                <a:latin typeface="Arial"/>
              </a:rPr>
              <a:t>Q1 (25th): 71.75 | Q3 (75th): 89.00
Central 50% are highly clustered</a:t>
            </a:r>
          </a:p>
        </p:txBody>
      </p:sp>
      <p:sp>
        <p:nvSpPr>
          <p:cNvPr id="6" name="Rounded Rectangle 5"/>
          <p:cNvSpPr/>
          <p:nvPr/>
        </p:nvSpPr>
        <p:spPr>
          <a:xfrm>
            <a:off x="7955280" y="1463040"/>
            <a:ext cx="3383280" cy="2011680"/>
          </a:xfrm>
          <a:prstGeom prst="roundRect">
            <a:avLst/>
          </a:prstGeom>
          <a:solidFill>
            <a:srgbClr val="FFFFFF"/>
          </a:solidFill>
          <a:ln w="12700">
            <a:solidFill>
              <a:srgbClr val="EAECEE"/>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ctr">
              <a:spcBef>
                <a:spcPts val="0"/>
              </a:spcBef>
              <a:spcAft>
                <a:spcPts val="400"/>
              </a:spcAft>
            </a:pPr>
            <a:r>
              <a:rPr sz="1100" b="1" i="0">
                <a:solidFill>
                  <a:srgbClr val="707B7C"/>
                </a:solidFill>
                <a:latin typeface="Arial"/>
              </a:rPr>
              <a:t>IDENTIFIED OUTLIERS</a:t>
            </a:r>
          </a:p>
          <a:p>
            <a:pPr algn="ctr">
              <a:spcBef>
                <a:spcPts val="0"/>
              </a:spcBef>
              <a:spcAft>
                <a:spcPts val="600"/>
              </a:spcAft>
            </a:pPr>
            <a:r>
              <a:rPr sz="3600" b="1" i="0">
                <a:solidFill>
                  <a:srgbClr val="0E6251"/>
                </a:solidFill>
                <a:latin typeface="Arial"/>
              </a:rPr>
              <a:t>0.00</a:t>
            </a:r>
          </a:p>
          <a:p>
            <a:pPr algn="ctr">
              <a:spcBef>
                <a:spcPts val="0"/>
              </a:spcBef>
              <a:spcAft>
                <a:spcPts val="600"/>
              </a:spcAft>
            </a:pPr>
            <a:r>
              <a:rPr sz="1100" b="0" i="1">
                <a:solidFill>
                  <a:srgbClr val="1C2833"/>
                </a:solidFill>
                <a:latin typeface="Arial"/>
              </a:rPr>
              <a:t>Lower Fence: 45.88 | Upper Fence: 114.88
Zero data points fall beyond whiskers</a:t>
            </a:r>
          </a:p>
        </p:txBody>
      </p:sp>
      <p:sp>
        <p:nvSpPr>
          <p:cNvPr id="7" name="TextBox 6"/>
          <p:cNvSpPr txBox="1"/>
          <p:nvPr/>
        </p:nvSpPr>
        <p:spPr>
          <a:xfrm>
            <a:off x="457200" y="3749039"/>
            <a:ext cx="11277295" cy="1887696"/>
          </a:xfrm>
          <a:prstGeom prst="rect">
            <a:avLst/>
          </a:prstGeom>
          <a:noFill/>
        </p:spPr>
        <p:txBody>
          <a:bodyPr wrap="square">
            <a:spAutoFit/>
          </a:bodyPr>
          <a:lstStyle/>
          <a:p>
            <a:pPr algn="l">
              <a:spcBef>
                <a:spcPts val="0"/>
              </a:spcBef>
              <a:spcAft>
                <a:spcPts val="800"/>
              </a:spcAft>
            </a:pPr>
            <a:r>
              <a:rPr sz="1500" b="1" i="0" dirty="0">
                <a:solidFill>
                  <a:srgbClr val="0E6251"/>
                </a:solidFill>
                <a:latin typeface="Arial"/>
              </a:rPr>
              <a:t>Core Observations &amp; Exploratory Insights:</a:t>
            </a:r>
          </a:p>
          <a:p>
            <a:pPr>
              <a:spcAft>
                <a:spcPts val="600"/>
              </a:spcAft>
            </a:pPr>
            <a:r>
              <a:rPr sz="1300" b="0" i="0" dirty="0">
                <a:solidFill>
                  <a:srgbClr val="1C2833"/>
                </a:solidFill>
                <a:latin typeface="Arial"/>
              </a:rPr>
              <a:t>• </a:t>
            </a:r>
            <a:r>
              <a:rPr sz="1300" b="1" i="0" dirty="0">
                <a:solidFill>
                  <a:srgbClr val="1C2833"/>
                </a:solidFill>
                <a:latin typeface="Arial"/>
              </a:rPr>
              <a:t>High Consensual Quality: </a:t>
            </a:r>
            <a:r>
              <a:rPr sz="1300" b="0" i="0" dirty="0">
                <a:solidFill>
                  <a:srgbClr val="1C2833"/>
                </a:solidFill>
                <a:latin typeface="Arial"/>
              </a:rPr>
              <a:t>The review scores are centered tightly around the median of 80.50. </a:t>
            </a:r>
            <a:r>
              <a:rPr lang="en-IN" sz="1400" dirty="0"/>
              <a:t>The standard deviation of 9.91 indicates moderate variation in review scores, with scores generally </a:t>
            </a:r>
            <a:r>
              <a:rPr lang="en-IN" sz="1400" dirty="0" err="1"/>
              <a:t>centered</a:t>
            </a:r>
            <a:r>
              <a:rPr lang="en-IN" sz="1400" dirty="0"/>
              <a:t> around the median of 80.50.</a:t>
            </a:r>
            <a:endParaRPr sz="1300" b="0" i="0" dirty="0">
              <a:solidFill>
                <a:srgbClr val="1C2833"/>
              </a:solidFill>
              <a:latin typeface="Arial"/>
            </a:endParaRPr>
          </a:p>
          <a:p>
            <a:pPr>
              <a:spcAft>
                <a:spcPts val="600"/>
              </a:spcAft>
            </a:pPr>
            <a:r>
              <a:rPr sz="1300" b="0" i="0" dirty="0">
                <a:solidFill>
                  <a:srgbClr val="1C2833"/>
                </a:solidFill>
                <a:latin typeface="Arial"/>
              </a:rPr>
              <a:t>• </a:t>
            </a:r>
            <a:r>
              <a:rPr sz="1300" b="1" i="0" dirty="0">
                <a:solidFill>
                  <a:srgbClr val="1C2833"/>
                </a:solidFill>
                <a:latin typeface="Arial"/>
              </a:rPr>
              <a:t>Symmetric Distribution: </a:t>
            </a:r>
            <a:r>
              <a:rPr sz="1300" b="0" i="0" dirty="0">
                <a:solidFill>
                  <a:srgbClr val="1C2833"/>
                </a:solidFill>
                <a:latin typeface="Arial"/>
              </a:rPr>
              <a:t>The skewness coefficient is -0.06, </a:t>
            </a:r>
            <a:r>
              <a:rPr lang="en-IN" sz="1400" dirty="0"/>
              <a:t>indicating that the review score distribution is approximately symmetric.</a:t>
            </a:r>
            <a:r>
              <a:rPr sz="1300" b="0" i="0" dirty="0">
                <a:solidFill>
                  <a:srgbClr val="1C2833"/>
                </a:solidFill>
                <a:latin typeface="Arial"/>
              </a:rPr>
              <a:t> There is no positive or negative bias tailing off.</a:t>
            </a:r>
          </a:p>
          <a:p>
            <a:pPr>
              <a:spcAft>
                <a:spcPts val="600"/>
              </a:spcAft>
            </a:pPr>
            <a:r>
              <a:rPr sz="1300" b="0" i="0" dirty="0">
                <a:solidFill>
                  <a:srgbClr val="1C2833"/>
                </a:solidFill>
                <a:latin typeface="Arial"/>
              </a:rPr>
              <a:t>• </a:t>
            </a:r>
            <a:r>
              <a:rPr lang="en-IN" sz="1400" b="1" dirty="0"/>
              <a:t>Outlier Analysis</a:t>
            </a:r>
            <a:r>
              <a:rPr sz="1300" b="1" i="0" dirty="0">
                <a:solidFill>
                  <a:srgbClr val="1C2833"/>
                </a:solidFill>
                <a:latin typeface="Arial"/>
              </a:rPr>
              <a:t>: </a:t>
            </a:r>
            <a:r>
              <a:rPr sz="1300" b="0" i="0" dirty="0">
                <a:solidFill>
                  <a:srgbClr val="1C2833"/>
                </a:solidFill>
                <a:latin typeface="Arial"/>
              </a:rPr>
              <a:t>Applying the 1.5x IQR rule reveals exactly zero outliers. The minimum review score is 63.30 and the maximum is 100.00, both of which fall safely within the upper and lower fences.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731520"/>
          </a:xfrm>
          <a:prstGeom prst="rect">
            <a:avLst/>
          </a:prstGeom>
          <a:noFill/>
        </p:spPr>
        <p:txBody>
          <a:bodyPr wrap="square" lIns="0" tIns="0" rIns="0" bIns="0">
            <a:spAutoFit/>
          </a:bodyPr>
          <a:lstStyle/>
          <a:p>
            <a:pPr>
              <a:defRPr sz="2400" b="1">
                <a:solidFill>
                  <a:srgbClr val="0E6251"/>
                </a:solidFill>
                <a:latin typeface="Georgia"/>
              </a:defRPr>
            </a:pPr>
            <a:r>
              <a:t>Player Playtime Positively Skews to 1.28 with a Mean of 16.33 Hours</a:t>
            </a:r>
          </a:p>
        </p:txBody>
      </p:sp>
      <p:sp>
        <p:nvSpPr>
          <p:cNvPr id="3" name="Rectangle 2"/>
          <p:cNvSpPr/>
          <p:nvPr/>
        </p:nvSpPr>
        <p:spPr>
          <a:xfrm>
            <a:off x="457200" y="1097280"/>
            <a:ext cx="11277295" cy="25400"/>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63040"/>
            <a:ext cx="5394960" cy="4572000"/>
          </a:xfrm>
          <a:prstGeom prst="rect">
            <a:avLst/>
          </a:prstGeom>
          <a:solidFill>
            <a:srgbClr val="FFFFFF"/>
          </a:solidFill>
          <a:ln>
            <a:solidFill>
              <a:srgbClr val="EAECEE"/>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l">
              <a:spcBef>
                <a:spcPts val="0"/>
              </a:spcBef>
              <a:spcAft>
                <a:spcPts val="1200"/>
              </a:spcAft>
            </a:pPr>
            <a:r>
              <a:rPr sz="1600" b="1" i="0" dirty="0">
                <a:solidFill>
                  <a:srgbClr val="0E6251"/>
                </a:solidFill>
                <a:latin typeface="Arial"/>
              </a:rPr>
              <a:t>Analysis of Gaming Engagement (Hours Played)</a:t>
            </a:r>
          </a:p>
          <a:p>
            <a:pPr algn="l">
              <a:spcBef>
                <a:spcPts val="0"/>
              </a:spcBef>
              <a:spcAft>
                <a:spcPts val="800"/>
              </a:spcAft>
            </a:pPr>
            <a:r>
              <a:rPr sz="1300" b="0" i="0" dirty="0">
                <a:solidFill>
                  <a:srgbClr val="1C2833"/>
                </a:solidFill>
                <a:latin typeface="Arial"/>
              </a:rPr>
              <a:t>• </a:t>
            </a:r>
            <a:r>
              <a:rPr lang="en-IN" sz="1300" b="1" i="0" dirty="0">
                <a:solidFill>
                  <a:srgbClr val="1C2833"/>
                </a:solidFill>
                <a:latin typeface="Arial"/>
              </a:rPr>
              <a:t>Positive Right Skewness (1.28): </a:t>
            </a:r>
            <a:r>
              <a:rPr sz="1300" b="0" i="0" dirty="0">
                <a:solidFill>
                  <a:srgbClr val="1C2833"/>
                </a:solidFill>
                <a:latin typeface="Arial"/>
              </a:rPr>
              <a:t>Unlike the review scores, hours played exhibits a strong right-skewed distribution. The mean of 16.33 hours is pulled upwards from the median of 16.00 hours.</a:t>
            </a:r>
          </a:p>
          <a:p>
            <a:pPr algn="l">
              <a:spcBef>
                <a:spcPts val="0"/>
              </a:spcBef>
              <a:spcAft>
                <a:spcPts val="800"/>
              </a:spcAft>
            </a:pPr>
            <a:r>
              <a:rPr sz="1300" b="0" i="0" dirty="0">
                <a:solidFill>
                  <a:srgbClr val="1C2833"/>
                </a:solidFill>
                <a:latin typeface="Arial"/>
              </a:rPr>
              <a:t>• </a:t>
            </a:r>
            <a:r>
              <a:rPr sz="1300" b="1" i="0" dirty="0">
                <a:solidFill>
                  <a:srgbClr val="1C2833"/>
                </a:solidFill>
                <a:latin typeface="Arial"/>
              </a:rPr>
              <a:t>Concentrated Playtime Core: </a:t>
            </a:r>
            <a:r>
              <a:rPr sz="1300" b="0" i="0" dirty="0">
                <a:solidFill>
                  <a:srgbClr val="1C2833"/>
                </a:solidFill>
                <a:latin typeface="Arial"/>
              </a:rPr>
              <a:t>The middle 50% of players log between 11.00 (Q1) and 21.00 (Q3) hours, illustrating a very consistent baseline play cycle for the standard audience.</a:t>
            </a:r>
          </a:p>
          <a:p>
            <a:pPr algn="l">
              <a:spcBef>
                <a:spcPts val="0"/>
              </a:spcBef>
              <a:spcAft>
                <a:spcPts val="1200"/>
              </a:spcAft>
            </a:pPr>
            <a:r>
              <a:rPr sz="1300" b="0" i="0" dirty="0">
                <a:solidFill>
                  <a:srgbClr val="1C2833"/>
                </a:solidFill>
                <a:latin typeface="Arial"/>
              </a:rPr>
              <a:t>• </a:t>
            </a:r>
            <a:r>
              <a:rPr lang="en-IN" sz="1300" b="1" i="0" dirty="0">
                <a:solidFill>
                  <a:srgbClr val="1C2833"/>
                </a:solidFill>
                <a:latin typeface="Arial"/>
              </a:rPr>
              <a:t>Extended Right Tail</a:t>
            </a:r>
            <a:r>
              <a:rPr sz="1300" b="1" i="0" dirty="0">
                <a:solidFill>
                  <a:srgbClr val="1C2833"/>
                </a:solidFill>
                <a:latin typeface="Arial"/>
              </a:rPr>
              <a:t>: </a:t>
            </a:r>
            <a:r>
              <a:rPr sz="1300" b="0" i="0" dirty="0">
                <a:solidFill>
                  <a:srgbClr val="1C2833"/>
                </a:solidFill>
                <a:latin typeface="Arial"/>
              </a:rPr>
              <a:t>A subset of hyper-engaged individuals logs up to 45.00 hours. This creates an extended right tail in the distribution, though it is not classified as an outlier.</a:t>
            </a:r>
          </a:p>
          <a:p>
            <a:pPr algn="l">
              <a:spcBef>
                <a:spcPts val="0"/>
              </a:spcBef>
              <a:spcAft>
                <a:spcPts val="400"/>
              </a:spcAft>
            </a:pPr>
            <a:r>
              <a:rPr sz="1300" b="1" i="0" dirty="0">
                <a:solidFill>
                  <a:srgbClr val="D35400"/>
                </a:solidFill>
                <a:latin typeface="Arial"/>
              </a:rPr>
              <a:t>Exploratory Insight:</a:t>
            </a:r>
          </a:p>
          <a:p>
            <a:pPr algn="l">
              <a:spcBef>
                <a:spcPts val="0"/>
              </a:spcBef>
              <a:spcAft>
                <a:spcPts val="600"/>
              </a:spcAft>
            </a:pPr>
            <a:r>
              <a:rPr sz="1200" b="0" i="1" dirty="0">
                <a:solidFill>
                  <a:srgbClr val="1C2833"/>
                </a:solidFill>
                <a:latin typeface="Arial"/>
              </a:rPr>
              <a:t>While player enjoyment is symmetrically centered, their play behaviors are highly asymmetric. Highly engaged players and light players co-exist in this ecosystem, but both report highly similar satisfaction levels.</a:t>
            </a:r>
          </a:p>
        </p:txBody>
      </p:sp>
      <p:pic>
        <p:nvPicPr>
          <p:cNvPr id="7" name="Picture 6">
            <a:extLst>
              <a:ext uri="{FF2B5EF4-FFF2-40B4-BE49-F238E27FC236}">
                <a16:creationId xmlns:a16="http://schemas.microsoft.com/office/drawing/2014/main" id="{C4919EF0-C823-7939-345F-BA1268372888}"/>
              </a:ext>
            </a:extLst>
          </p:cNvPr>
          <p:cNvPicPr>
            <a:picLocks noChangeAspect="1"/>
          </p:cNvPicPr>
          <p:nvPr/>
        </p:nvPicPr>
        <p:blipFill>
          <a:blip r:embed="rId3"/>
          <a:stretch>
            <a:fillRect/>
          </a:stretch>
        </p:blipFill>
        <p:spPr>
          <a:xfrm>
            <a:off x="6096000" y="2125406"/>
            <a:ext cx="5667607" cy="338963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369332"/>
          </a:xfrm>
          <a:prstGeom prst="rect">
            <a:avLst/>
          </a:prstGeom>
          <a:noFill/>
        </p:spPr>
        <p:txBody>
          <a:bodyPr wrap="square" lIns="0" tIns="0" rIns="0" bIns="0">
            <a:spAutoFit/>
          </a:bodyPr>
          <a:lstStyle/>
          <a:p>
            <a:pPr>
              <a:defRPr sz="2400" b="1">
                <a:solidFill>
                  <a:srgbClr val="0E6251"/>
                </a:solidFill>
                <a:latin typeface="Georgia"/>
              </a:defRPr>
            </a:pPr>
            <a:r>
              <a:rPr lang="en-US" dirty="0"/>
              <a:t>Grouped Analysis Shows the 40s Cohort Has the Highest Median BP</a:t>
            </a:r>
            <a:endParaRPr dirty="0"/>
          </a:p>
        </p:txBody>
      </p:sp>
      <p:sp>
        <p:nvSpPr>
          <p:cNvPr id="3" name="Rectangle 2"/>
          <p:cNvSpPr/>
          <p:nvPr/>
        </p:nvSpPr>
        <p:spPr>
          <a:xfrm>
            <a:off x="457200" y="1097280"/>
            <a:ext cx="11277295" cy="25400"/>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339535" y="1463040"/>
            <a:ext cx="5394960" cy="4572000"/>
          </a:xfrm>
          <a:prstGeom prst="rect">
            <a:avLst/>
          </a:prstGeom>
          <a:solidFill>
            <a:srgbClr val="FFFFFF"/>
          </a:solidFill>
          <a:ln>
            <a:solidFill>
              <a:srgbClr val="EAECEE"/>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l">
              <a:spcBef>
                <a:spcPts val="0"/>
              </a:spcBef>
              <a:spcAft>
                <a:spcPts val="1200"/>
              </a:spcAft>
            </a:pPr>
            <a:r>
              <a:rPr sz="1600" b="1" i="0" dirty="0">
                <a:solidFill>
                  <a:srgbClr val="0E6251"/>
                </a:solidFill>
                <a:latin typeface="Arial"/>
              </a:rPr>
              <a:t>Physiological Age Cohort Dynamics (N = 120)</a:t>
            </a:r>
          </a:p>
          <a:p>
            <a:pPr algn="l">
              <a:spcBef>
                <a:spcPts val="0"/>
              </a:spcBef>
              <a:spcAft>
                <a:spcPts val="800"/>
              </a:spcAft>
            </a:pPr>
            <a:r>
              <a:rPr sz="1300" b="0" i="0" dirty="0">
                <a:solidFill>
                  <a:srgbClr val="1C2833"/>
                </a:solidFill>
                <a:latin typeface="Arial"/>
              </a:rPr>
              <a:t>• </a:t>
            </a:r>
            <a:r>
              <a:rPr sz="1300" b="1" i="0" dirty="0">
                <a:solidFill>
                  <a:srgbClr val="1C2833"/>
                </a:solidFill>
                <a:latin typeface="Arial"/>
              </a:rPr>
              <a:t>Non-Linear Trend with Age: </a:t>
            </a:r>
            <a:r>
              <a:rPr sz="1300" b="0" i="0" dirty="0">
                <a:solidFill>
                  <a:srgbClr val="1C2833"/>
                </a:solidFill>
                <a:latin typeface="Arial"/>
              </a:rPr>
              <a:t>Systolic blood pressure does not increase linearly. The 40s group displays the highest median blood pressure (138.50 mmHg), exceeding all older and younger cohorts.</a:t>
            </a:r>
          </a:p>
          <a:p>
            <a:pPr algn="l">
              <a:spcBef>
                <a:spcPts val="0"/>
              </a:spcBef>
              <a:spcAft>
                <a:spcPts val="800"/>
              </a:spcAft>
            </a:pPr>
            <a:r>
              <a:rPr sz="1300" b="0" i="0" dirty="0">
                <a:solidFill>
                  <a:srgbClr val="1C2833"/>
                </a:solidFill>
                <a:latin typeface="Arial"/>
              </a:rPr>
              <a:t>• </a:t>
            </a:r>
            <a:r>
              <a:rPr sz="1300" b="1" i="0" dirty="0">
                <a:solidFill>
                  <a:srgbClr val="1C2833"/>
                </a:solidFill>
                <a:latin typeface="Arial"/>
              </a:rPr>
              <a:t>Maximum Physiological Variability: </a:t>
            </a:r>
            <a:r>
              <a:rPr sz="1300" b="0" i="0" dirty="0">
                <a:solidFill>
                  <a:srgbClr val="1C2833"/>
                </a:solidFill>
                <a:latin typeface="Arial"/>
              </a:rPr>
              <a:t>The 60+ age group exhibits the largest variability with an IQR of 28.00 mmHg (Q1 = 113.00, Q3 = 141.00), demonstrating diverse physiological pathways in older age.</a:t>
            </a:r>
          </a:p>
          <a:p>
            <a:pPr algn="l">
              <a:spcBef>
                <a:spcPts val="0"/>
              </a:spcBef>
              <a:spcAft>
                <a:spcPts val="1200"/>
              </a:spcAft>
            </a:pPr>
            <a:r>
              <a:rPr sz="1300" b="0" i="0" dirty="0">
                <a:solidFill>
                  <a:srgbClr val="1C2833"/>
                </a:solidFill>
                <a:latin typeface="Arial"/>
              </a:rPr>
              <a:t>• </a:t>
            </a:r>
            <a:r>
              <a:rPr sz="1300" b="1" i="0" dirty="0">
                <a:solidFill>
                  <a:srgbClr val="1C2833"/>
                </a:solidFill>
                <a:latin typeface="Arial"/>
              </a:rPr>
              <a:t>Extremely Uniform 30s Cohort: </a:t>
            </a:r>
            <a:r>
              <a:rPr sz="1300" b="0" i="0" dirty="0">
                <a:solidFill>
                  <a:srgbClr val="1C2833"/>
                </a:solidFill>
                <a:latin typeface="Arial"/>
              </a:rPr>
              <a:t>The 30s group exhibits the lowest baseline variability with an IQR of 8.65 mmHg. This suggests highly consistent pressure readings among most young adults.</a:t>
            </a:r>
          </a:p>
          <a:p>
            <a:pPr algn="l">
              <a:spcBef>
                <a:spcPts val="0"/>
              </a:spcBef>
              <a:spcAft>
                <a:spcPts val="400"/>
              </a:spcAft>
            </a:pPr>
            <a:r>
              <a:rPr sz="1300" b="1" i="0" dirty="0">
                <a:solidFill>
                  <a:srgbClr val="D35400"/>
                </a:solidFill>
                <a:latin typeface="Arial"/>
              </a:rPr>
              <a:t>Key Takeaway:</a:t>
            </a:r>
          </a:p>
          <a:p>
            <a:pPr algn="l">
              <a:spcBef>
                <a:spcPts val="0"/>
              </a:spcBef>
              <a:spcAft>
                <a:spcPts val="600"/>
              </a:spcAft>
            </a:pPr>
            <a:r>
              <a:rPr lang="en-US" sz="1200" b="0" i="1" dirty="0">
                <a:solidFill>
                  <a:srgbClr val="1C2833"/>
                </a:solidFill>
                <a:latin typeface="Arial"/>
              </a:rPr>
              <a:t>The 40s group has the highest median blood pressure (138.50 mmHg) in this dataset, while the 60+ group shows the greatest variability.</a:t>
            </a:r>
            <a:endParaRPr sz="1200" b="0" i="1" dirty="0">
              <a:solidFill>
                <a:srgbClr val="1C2833"/>
              </a:solidFill>
              <a:latin typeface="Arial"/>
            </a:endParaRPr>
          </a:p>
        </p:txBody>
      </p:sp>
      <p:pic>
        <p:nvPicPr>
          <p:cNvPr id="7" name="Picture 6">
            <a:extLst>
              <a:ext uri="{FF2B5EF4-FFF2-40B4-BE49-F238E27FC236}">
                <a16:creationId xmlns:a16="http://schemas.microsoft.com/office/drawing/2014/main" id="{2D992953-3F71-29CD-8C3B-0CCCE289B7FE}"/>
              </a:ext>
            </a:extLst>
          </p:cNvPr>
          <p:cNvPicPr>
            <a:picLocks noChangeAspect="1"/>
          </p:cNvPicPr>
          <p:nvPr/>
        </p:nvPicPr>
        <p:blipFill>
          <a:blip r:embed="rId3"/>
          <a:stretch>
            <a:fillRect/>
          </a:stretch>
        </p:blipFill>
        <p:spPr>
          <a:xfrm>
            <a:off x="507240" y="2080995"/>
            <a:ext cx="5543205" cy="33980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369332"/>
          </a:xfrm>
          <a:prstGeom prst="rect">
            <a:avLst/>
          </a:prstGeom>
          <a:noFill/>
        </p:spPr>
        <p:txBody>
          <a:bodyPr wrap="square" lIns="0" tIns="0" rIns="0" bIns="0">
            <a:spAutoFit/>
          </a:bodyPr>
          <a:lstStyle/>
          <a:p>
            <a:pPr>
              <a:defRPr sz="2400" b="1">
                <a:solidFill>
                  <a:srgbClr val="0E6251"/>
                </a:solidFill>
                <a:latin typeface="Georgia"/>
              </a:defRPr>
            </a:pPr>
            <a:r>
              <a:rPr lang="en-IN" dirty="0"/>
              <a:t>Four Statistical Outliers Identified in the 30s Cohort</a:t>
            </a:r>
            <a:endParaRPr dirty="0"/>
          </a:p>
        </p:txBody>
      </p:sp>
      <p:sp>
        <p:nvSpPr>
          <p:cNvPr id="3" name="Rectangle 2"/>
          <p:cNvSpPr/>
          <p:nvPr/>
        </p:nvSpPr>
        <p:spPr>
          <a:xfrm>
            <a:off x="457200" y="1097280"/>
            <a:ext cx="11277295" cy="25400"/>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63040"/>
            <a:ext cx="5394960" cy="4572000"/>
          </a:xfrm>
          <a:prstGeom prst="rect">
            <a:avLst/>
          </a:prstGeom>
          <a:solidFill>
            <a:srgbClr val="FFFFFF"/>
          </a:solidFill>
          <a:ln>
            <a:solidFill>
              <a:srgbClr val="EAECEE"/>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l">
              <a:spcBef>
                <a:spcPts val="0"/>
              </a:spcBef>
              <a:spcAft>
                <a:spcPts val="1200"/>
              </a:spcAft>
            </a:pPr>
            <a:r>
              <a:rPr sz="1600" b="1" i="0">
                <a:solidFill>
                  <a:srgbClr val="0E6251"/>
                </a:solidFill>
                <a:latin typeface="Arial"/>
              </a:rPr>
              <a:t>Outlier Context &amp; Mathematical Fences</a:t>
            </a:r>
          </a:p>
          <a:p>
            <a:pPr algn="l">
              <a:spcBef>
                <a:spcPts val="0"/>
              </a:spcBef>
              <a:spcAft>
                <a:spcPts val="1000"/>
              </a:spcAft>
            </a:pPr>
            <a:r>
              <a:rPr sz="1300" b="0" i="0">
                <a:solidFill>
                  <a:srgbClr val="1C2833"/>
                </a:solidFill>
                <a:latin typeface="Arial"/>
              </a:rPr>
              <a:t>The 30s cohort represents an intriguing statistical profile. It displays the tightest overall central clustering (IQR = 8.65 mmHg, Q1 = 126.75, Q3 = 135.40).</a:t>
            </a:r>
          </a:p>
          <a:p>
            <a:pPr algn="l">
              <a:spcBef>
                <a:spcPts val="0"/>
              </a:spcBef>
              <a:spcAft>
                <a:spcPts val="600"/>
              </a:spcAft>
            </a:pPr>
            <a:r>
              <a:rPr sz="1300" b="1" i="0">
                <a:solidFill>
                  <a:srgbClr val="1C2833"/>
                </a:solidFill>
                <a:latin typeface="Arial"/>
              </a:rPr>
              <a:t>Under the 1.5x IQR rule, the mathematical fences are:</a:t>
            </a:r>
          </a:p>
          <a:p>
            <a:pPr algn="l">
              <a:spcBef>
                <a:spcPts val="0"/>
              </a:spcBef>
              <a:spcAft>
                <a:spcPts val="400"/>
              </a:spcAft>
            </a:pPr>
            <a:r>
              <a:rPr sz="1300" b="0" i="0">
                <a:solidFill>
                  <a:srgbClr val="1C2833"/>
                </a:solidFill>
                <a:latin typeface="Arial"/>
              </a:rPr>
              <a:t>• Lower Fence: 113.78 mmHg</a:t>
            </a:r>
          </a:p>
          <a:p>
            <a:pPr algn="l">
              <a:spcBef>
                <a:spcPts val="0"/>
              </a:spcBef>
              <a:spcAft>
                <a:spcPts val="1200"/>
              </a:spcAft>
            </a:pPr>
            <a:r>
              <a:rPr sz="1300" b="0" i="0">
                <a:solidFill>
                  <a:srgbClr val="1C2833"/>
                </a:solidFill>
                <a:latin typeface="Arial"/>
              </a:rPr>
              <a:t>• Upper Fence: 148.38 mmHg</a:t>
            </a:r>
          </a:p>
          <a:p>
            <a:pPr algn="l">
              <a:spcBef>
                <a:spcPts val="0"/>
              </a:spcBef>
              <a:spcAft>
                <a:spcPts val="600"/>
              </a:spcAft>
            </a:pPr>
            <a:r>
              <a:rPr sz="1300" b="0" i="1">
                <a:solidFill>
                  <a:srgbClr val="1C2833"/>
                </a:solidFill>
                <a:latin typeface="Arial"/>
              </a:rPr>
              <a:t>A highly uniform cohort with such low baseline variability is exceptionally sensitive to any deviations, making extreme readings stand out immediately as formal outliers.</a:t>
            </a:r>
          </a:p>
        </p:txBody>
      </p:sp>
      <p:sp>
        <p:nvSpPr>
          <p:cNvPr id="5" name="Rectangle 4"/>
          <p:cNvSpPr/>
          <p:nvPr/>
        </p:nvSpPr>
        <p:spPr>
          <a:xfrm>
            <a:off x="6339535" y="1463040"/>
            <a:ext cx="5394960" cy="4572000"/>
          </a:xfrm>
          <a:prstGeom prst="rect">
            <a:avLst/>
          </a:prstGeom>
          <a:solidFill>
            <a:srgbClr val="FFFFFF"/>
          </a:solidFill>
          <a:ln>
            <a:solidFill>
              <a:srgbClr val="EAECEE"/>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l">
              <a:spcBef>
                <a:spcPts val="0"/>
              </a:spcBef>
              <a:spcAft>
                <a:spcPts val="1200"/>
              </a:spcAft>
            </a:pPr>
            <a:r>
              <a:rPr sz="1600" b="1" i="0" dirty="0">
                <a:solidFill>
                  <a:srgbClr val="D35400"/>
                </a:solidFill>
                <a:latin typeface="Arial"/>
              </a:rPr>
              <a:t>Identified Outlier Records (N = 4)</a:t>
            </a:r>
          </a:p>
          <a:p>
            <a:pPr algn="l">
              <a:spcBef>
                <a:spcPts val="0"/>
              </a:spcBef>
              <a:spcAft>
                <a:spcPts val="800"/>
              </a:spcAft>
            </a:pPr>
            <a:r>
              <a:rPr sz="1300" b="1" i="0" dirty="0">
                <a:solidFill>
                  <a:srgbClr val="1C2833"/>
                </a:solidFill>
                <a:latin typeface="Arial"/>
              </a:rPr>
              <a:t>Four participants in their 30s fell beyond the fences:</a:t>
            </a:r>
          </a:p>
          <a:p>
            <a:pPr algn="l">
              <a:spcBef>
                <a:spcPts val="0"/>
              </a:spcBef>
              <a:spcAft>
                <a:spcPts val="600"/>
              </a:spcAft>
            </a:pPr>
            <a:r>
              <a:rPr lang="en-IN" sz="1300" b="0" i="0" dirty="0">
                <a:solidFill>
                  <a:srgbClr val="1C2833"/>
                </a:solidFill>
                <a:latin typeface="Arial"/>
              </a:rPr>
              <a:t>P081: 108.00 mmHg — Statistical outlier</a:t>
            </a:r>
          </a:p>
          <a:p>
            <a:pPr algn="l">
              <a:spcBef>
                <a:spcPts val="0"/>
              </a:spcBef>
              <a:spcAft>
                <a:spcPts val="600"/>
              </a:spcAft>
            </a:pPr>
            <a:r>
              <a:rPr lang="en-IN" sz="1300" b="0" i="0" dirty="0">
                <a:solidFill>
                  <a:srgbClr val="1C2833"/>
                </a:solidFill>
                <a:latin typeface="Arial"/>
              </a:rPr>
              <a:t>P107: 152.40 mmHg — Statistical outlier</a:t>
            </a:r>
          </a:p>
          <a:p>
            <a:pPr algn="l">
              <a:spcBef>
                <a:spcPts val="0"/>
              </a:spcBef>
              <a:spcAft>
                <a:spcPts val="600"/>
              </a:spcAft>
            </a:pPr>
            <a:r>
              <a:rPr lang="en-IN" sz="1300" b="0" i="0" dirty="0">
                <a:solidFill>
                  <a:srgbClr val="1C2833"/>
                </a:solidFill>
                <a:latin typeface="Arial"/>
              </a:rPr>
              <a:t>P115: 153.50 mmHg — Statistical outlier</a:t>
            </a:r>
          </a:p>
          <a:p>
            <a:pPr algn="l">
              <a:spcBef>
                <a:spcPts val="0"/>
              </a:spcBef>
              <a:spcAft>
                <a:spcPts val="600"/>
              </a:spcAft>
            </a:pPr>
            <a:r>
              <a:rPr lang="en-IN" sz="1300" b="0" i="0" dirty="0">
                <a:solidFill>
                  <a:srgbClr val="1C2833"/>
                </a:solidFill>
                <a:latin typeface="Arial"/>
              </a:rPr>
              <a:t>P005: 166.00 mmHg — Statistical outlier</a:t>
            </a:r>
          </a:p>
          <a:p>
            <a:pPr algn="l">
              <a:spcBef>
                <a:spcPts val="0"/>
              </a:spcBef>
              <a:spcAft>
                <a:spcPts val="600"/>
              </a:spcAft>
            </a:pPr>
            <a:r>
              <a:rPr sz="1300" b="1" i="0" dirty="0">
                <a:solidFill>
                  <a:srgbClr val="0E6251"/>
                </a:solidFill>
                <a:latin typeface="Arial"/>
              </a:rPr>
              <a:t>Analytical Significance:</a:t>
            </a:r>
          </a:p>
          <a:p>
            <a:pPr algn="l">
              <a:spcBef>
                <a:spcPts val="0"/>
              </a:spcBef>
              <a:spcAft>
                <a:spcPts val="600"/>
              </a:spcAft>
            </a:pPr>
            <a:r>
              <a:rPr lang="en-US" sz="1200" b="0" i="1" dirty="0">
                <a:solidFill>
                  <a:srgbClr val="1C2833"/>
                </a:solidFill>
                <a:latin typeface="Arial"/>
              </a:rPr>
              <a:t>These four observations fall outside the 1.5×IQR fences for the 30s group. They indicate greater deviation from the central pattern within this age group and may warrant further investigation in a larger dataset.</a:t>
            </a:r>
            <a:endParaRPr sz="1200" b="0" i="1" dirty="0">
              <a:solidFill>
                <a:srgbClr val="1C2833"/>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731520"/>
          </a:xfrm>
          <a:prstGeom prst="rect">
            <a:avLst/>
          </a:prstGeom>
          <a:noFill/>
        </p:spPr>
        <p:txBody>
          <a:bodyPr wrap="square" lIns="0" tIns="0" rIns="0" bIns="0">
            <a:spAutoFit/>
          </a:bodyPr>
          <a:lstStyle/>
          <a:p>
            <a:pPr>
              <a:defRPr sz="2400" b="1">
                <a:solidFill>
                  <a:srgbClr val="0E6251"/>
                </a:solidFill>
                <a:latin typeface="Georgia"/>
              </a:defRPr>
            </a:pPr>
            <a:r>
              <a:t>Two Correlation Models Account for Variable Types and Binary Associations</a:t>
            </a:r>
          </a:p>
        </p:txBody>
      </p:sp>
      <p:sp>
        <p:nvSpPr>
          <p:cNvPr id="3" name="Rectangle 2"/>
          <p:cNvSpPr/>
          <p:nvPr/>
        </p:nvSpPr>
        <p:spPr>
          <a:xfrm>
            <a:off x="457200" y="1097280"/>
            <a:ext cx="11277295" cy="25400"/>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63040"/>
            <a:ext cx="5394960" cy="4572000"/>
          </a:xfrm>
          <a:prstGeom prst="rect">
            <a:avLst/>
          </a:prstGeom>
          <a:solidFill>
            <a:srgbClr val="FFFFFF"/>
          </a:solidFill>
          <a:ln>
            <a:solidFill>
              <a:srgbClr val="EAECEE"/>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l">
              <a:spcBef>
                <a:spcPts val="0"/>
              </a:spcBef>
              <a:spcAft>
                <a:spcPts val="1200"/>
              </a:spcAft>
            </a:pPr>
            <a:r>
              <a:rPr sz="1600" b="1" i="0" dirty="0">
                <a:solidFill>
                  <a:srgbClr val="0E6251"/>
                </a:solidFill>
                <a:latin typeface="Arial"/>
              </a:rPr>
              <a:t>Pearson Product-Moment Correlation</a:t>
            </a:r>
          </a:p>
          <a:p>
            <a:pPr algn="l">
              <a:spcBef>
                <a:spcPts val="0"/>
              </a:spcBef>
              <a:spcAft>
                <a:spcPts val="800"/>
              </a:spcAft>
            </a:pPr>
            <a:r>
              <a:rPr sz="1300" b="0" i="0" dirty="0">
                <a:solidFill>
                  <a:srgbClr val="1C2833"/>
                </a:solidFill>
                <a:latin typeface="Arial"/>
              </a:rPr>
              <a:t>• </a:t>
            </a:r>
            <a:r>
              <a:rPr sz="1300" b="1" i="0" dirty="0">
                <a:solidFill>
                  <a:srgbClr val="1C2833"/>
                </a:solidFill>
                <a:latin typeface="Arial"/>
              </a:rPr>
              <a:t>Methodological Justification: </a:t>
            </a:r>
            <a:r>
              <a:rPr sz="1300" b="0" i="0" dirty="0">
                <a:solidFill>
                  <a:srgbClr val="1C2833"/>
                </a:solidFill>
                <a:latin typeface="Arial"/>
              </a:rPr>
              <a:t>Pearson correlation is mathematically designed to measure the strength and direction of a linear relationship between two continuous numerical variables.</a:t>
            </a:r>
          </a:p>
          <a:p>
            <a:pPr algn="l">
              <a:spcBef>
                <a:spcPts val="0"/>
              </a:spcBef>
              <a:spcAft>
                <a:spcPts val="800"/>
              </a:spcAft>
            </a:pPr>
            <a:r>
              <a:rPr sz="1300" b="0" i="0" dirty="0">
                <a:solidFill>
                  <a:srgbClr val="1C2833"/>
                </a:solidFill>
                <a:latin typeface="Arial"/>
              </a:rPr>
              <a:t>• </a:t>
            </a:r>
            <a:r>
              <a:rPr sz="1300" b="1" i="0" dirty="0">
                <a:solidFill>
                  <a:srgbClr val="1C2833"/>
                </a:solidFill>
                <a:latin typeface="Arial"/>
              </a:rPr>
              <a:t>Variables: </a:t>
            </a:r>
            <a:r>
              <a:rPr sz="1300" b="0" i="0" dirty="0">
                <a:solidFill>
                  <a:srgbClr val="1C2833"/>
                </a:solidFill>
                <a:latin typeface="Arial"/>
              </a:rPr>
              <a:t>Hours Played (Continuous) vs. Review Score (Continuous).</a:t>
            </a:r>
          </a:p>
          <a:p>
            <a:pPr algn="l">
              <a:spcBef>
                <a:spcPts val="0"/>
              </a:spcBef>
              <a:spcAft>
                <a:spcPts val="400"/>
              </a:spcAft>
            </a:pPr>
            <a:r>
              <a:rPr sz="1300" b="1" i="0" dirty="0">
                <a:solidFill>
                  <a:srgbClr val="1C2833"/>
                </a:solidFill>
                <a:latin typeface="Arial"/>
              </a:rPr>
              <a:t>• Mathematical Formulation:</a:t>
            </a:r>
          </a:p>
          <a:p>
            <a:pPr algn="ctr">
              <a:spcBef>
                <a:spcPts val="0"/>
              </a:spcBef>
              <a:spcAft>
                <a:spcPts val="1200"/>
              </a:spcAft>
            </a:pPr>
            <a:r>
              <a:rPr sz="1200" b="0" i="1" dirty="0">
                <a:solidFill>
                  <a:srgbClr val="1C2833"/>
                </a:solidFill>
                <a:latin typeface="Arial"/>
              </a:rPr>
              <a:t>r = [ </a:t>
            </a:r>
            <a:r>
              <a:rPr sz="1200" b="0" i="1" dirty="0" err="1">
                <a:solidFill>
                  <a:srgbClr val="1C2833"/>
                </a:solidFill>
                <a:latin typeface="Arial"/>
              </a:rPr>
              <a:t>nΣXY</a:t>
            </a:r>
            <a:r>
              <a:rPr sz="1200" b="0" i="1" dirty="0">
                <a:solidFill>
                  <a:srgbClr val="1C2833"/>
                </a:solidFill>
                <a:latin typeface="Arial"/>
              </a:rPr>
              <a:t> - (ΣX)(ΣY) ] / √[ (nΣX² - (ΣX)²)(nΣY² - (ΣY)²) ]</a:t>
            </a:r>
          </a:p>
          <a:p>
            <a:pPr algn="l">
              <a:spcBef>
                <a:spcPts val="0"/>
              </a:spcBef>
              <a:spcAft>
                <a:spcPts val="600"/>
              </a:spcAft>
            </a:pPr>
            <a:r>
              <a:rPr sz="1200" b="0" i="1" dirty="0">
                <a:solidFill>
                  <a:srgbClr val="1C2833"/>
                </a:solidFill>
                <a:latin typeface="Arial"/>
              </a:rPr>
              <a:t>Proper choice ensures we capture true continuous linear associations without ranking distortion.</a:t>
            </a:r>
          </a:p>
        </p:txBody>
      </p:sp>
      <p:sp>
        <p:nvSpPr>
          <p:cNvPr id="5" name="Rectangle 4"/>
          <p:cNvSpPr/>
          <p:nvPr/>
        </p:nvSpPr>
        <p:spPr>
          <a:xfrm>
            <a:off x="6339535" y="1463040"/>
            <a:ext cx="5394960" cy="4572000"/>
          </a:xfrm>
          <a:prstGeom prst="rect">
            <a:avLst/>
          </a:prstGeom>
          <a:solidFill>
            <a:srgbClr val="FFFFFF"/>
          </a:solidFill>
          <a:ln>
            <a:solidFill>
              <a:srgbClr val="EAECEE"/>
            </a:solidFill>
          </a:ln>
        </p:spPr>
        <p:style>
          <a:lnRef idx="1">
            <a:schemeClr val="accent1"/>
          </a:lnRef>
          <a:fillRef idx="3">
            <a:schemeClr val="accent1"/>
          </a:fillRef>
          <a:effectRef idx="2">
            <a:schemeClr val="accent1"/>
          </a:effectRef>
          <a:fontRef idx="minor">
            <a:schemeClr val="lt1"/>
          </a:fontRef>
        </p:style>
        <p:txBody>
          <a:bodyPr wrap="square" lIns="274320" tIns="274320" rIns="274320" rtlCol="0" anchor="ctr"/>
          <a:lstStyle/>
          <a:p>
            <a:pPr algn="l">
              <a:spcBef>
                <a:spcPts val="0"/>
              </a:spcBef>
              <a:spcAft>
                <a:spcPts val="1200"/>
              </a:spcAft>
            </a:pPr>
            <a:r>
              <a:rPr sz="1600" b="1" i="0" dirty="0">
                <a:solidFill>
                  <a:srgbClr val="0E6251"/>
                </a:solidFill>
                <a:latin typeface="Arial"/>
              </a:rPr>
              <a:t>Point-Biserial Correlation</a:t>
            </a:r>
          </a:p>
          <a:p>
            <a:pPr algn="l">
              <a:spcBef>
                <a:spcPts val="0"/>
              </a:spcBef>
              <a:spcAft>
                <a:spcPts val="800"/>
              </a:spcAft>
            </a:pPr>
            <a:r>
              <a:rPr sz="1300" b="0" i="0" dirty="0">
                <a:solidFill>
                  <a:srgbClr val="1C2833"/>
                </a:solidFill>
                <a:latin typeface="Arial"/>
              </a:rPr>
              <a:t>• </a:t>
            </a:r>
            <a:r>
              <a:rPr sz="1300" b="1" i="0" dirty="0">
                <a:solidFill>
                  <a:srgbClr val="1C2833"/>
                </a:solidFill>
                <a:latin typeface="Arial"/>
              </a:rPr>
              <a:t>Methodological Justification: </a:t>
            </a:r>
            <a:r>
              <a:rPr sz="1300" b="0" i="0" dirty="0">
                <a:solidFill>
                  <a:srgbClr val="1C2833"/>
                </a:solidFill>
                <a:latin typeface="Arial"/>
              </a:rPr>
              <a:t>Point-Biserial correlation is mathematically mandatory when evaluating the relationship between a truly dichotomous binary variable and a continuous numerical variable.</a:t>
            </a:r>
          </a:p>
          <a:p>
            <a:pPr algn="l">
              <a:spcBef>
                <a:spcPts val="0"/>
              </a:spcBef>
              <a:spcAft>
                <a:spcPts val="800"/>
              </a:spcAft>
            </a:pPr>
            <a:r>
              <a:rPr sz="1300" b="0" i="0" dirty="0">
                <a:solidFill>
                  <a:srgbClr val="1C2833"/>
                </a:solidFill>
                <a:latin typeface="Arial"/>
              </a:rPr>
              <a:t>• </a:t>
            </a:r>
            <a:r>
              <a:rPr sz="1300" b="1" i="0" dirty="0">
                <a:solidFill>
                  <a:srgbClr val="1C2833"/>
                </a:solidFill>
                <a:latin typeface="Arial"/>
              </a:rPr>
              <a:t>Variables: </a:t>
            </a:r>
            <a:r>
              <a:rPr sz="1300" b="0" i="0" dirty="0">
                <a:solidFill>
                  <a:srgbClr val="1C2833"/>
                </a:solidFill>
                <a:latin typeface="Arial"/>
              </a:rPr>
              <a:t>Smoking Status (Binary: 0/1) vs. Blood Pressure (Continuous).</a:t>
            </a:r>
          </a:p>
          <a:p>
            <a:pPr algn="l">
              <a:spcBef>
                <a:spcPts val="0"/>
              </a:spcBef>
              <a:spcAft>
                <a:spcPts val="400"/>
              </a:spcAft>
            </a:pPr>
            <a:r>
              <a:rPr sz="1300" b="1" i="0" dirty="0">
                <a:solidFill>
                  <a:srgbClr val="1C2833"/>
                </a:solidFill>
                <a:latin typeface="Arial"/>
              </a:rPr>
              <a:t>• Mathematical Formulation:</a:t>
            </a:r>
          </a:p>
          <a:p>
            <a:pPr algn="ctr">
              <a:spcBef>
                <a:spcPts val="0"/>
              </a:spcBef>
              <a:spcAft>
                <a:spcPts val="1200"/>
              </a:spcAft>
            </a:pPr>
            <a:r>
              <a:rPr sz="1200" b="0" i="1" dirty="0" err="1">
                <a:solidFill>
                  <a:srgbClr val="1C2833"/>
                </a:solidFill>
                <a:latin typeface="Arial"/>
              </a:rPr>
              <a:t>r_pb</a:t>
            </a:r>
            <a:r>
              <a:rPr sz="1200" b="0" i="1" dirty="0">
                <a:solidFill>
                  <a:srgbClr val="1C2833"/>
                </a:solidFill>
                <a:latin typeface="Arial"/>
              </a:rPr>
              <a:t> = [ (M_1 - M_0) / </a:t>
            </a:r>
            <a:r>
              <a:rPr sz="1200" b="0" i="1" dirty="0" err="1">
                <a:solidFill>
                  <a:srgbClr val="1C2833"/>
                </a:solidFill>
                <a:latin typeface="Arial"/>
              </a:rPr>
              <a:t>s_y</a:t>
            </a:r>
            <a:r>
              <a:rPr sz="1200" b="0" i="1" dirty="0">
                <a:solidFill>
                  <a:srgbClr val="1C2833"/>
                </a:solidFill>
                <a:latin typeface="Arial"/>
              </a:rPr>
              <a:t> ] * √[ (n_1 * n_0) / (n * (n - 1)) ]</a:t>
            </a:r>
          </a:p>
          <a:p>
            <a:pPr algn="l">
              <a:spcBef>
                <a:spcPts val="0"/>
              </a:spcBef>
              <a:spcAft>
                <a:spcPts val="600"/>
              </a:spcAft>
            </a:pPr>
            <a:r>
              <a:rPr sz="1200" b="0" i="1" dirty="0">
                <a:solidFill>
                  <a:srgbClr val="1C2833"/>
                </a:solidFill>
                <a:latin typeface="Arial"/>
              </a:rPr>
              <a:t>Using Pearson on a binary variable is equivalent to Point-Biserial, but formulating it this way emphasizes the difference in group means.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731520"/>
          </a:xfrm>
          <a:prstGeom prst="rect">
            <a:avLst/>
          </a:prstGeom>
          <a:noFill/>
        </p:spPr>
        <p:txBody>
          <a:bodyPr wrap="square" lIns="0" tIns="0" rIns="0" bIns="0">
            <a:spAutoFit/>
          </a:bodyPr>
          <a:lstStyle/>
          <a:p>
            <a:pPr>
              <a:defRPr sz="2400" b="1">
                <a:solidFill>
                  <a:srgbClr val="0E6251"/>
                </a:solidFill>
                <a:latin typeface="Georgia"/>
              </a:defRPr>
            </a:pPr>
            <a:r>
              <a:t>No Statistical Significance Links Playtime or Smoking Status to Performance Metrics</a:t>
            </a:r>
          </a:p>
        </p:txBody>
      </p:sp>
      <p:sp>
        <p:nvSpPr>
          <p:cNvPr id="3" name="Rectangle 2"/>
          <p:cNvSpPr/>
          <p:nvPr/>
        </p:nvSpPr>
        <p:spPr>
          <a:xfrm>
            <a:off x="457200" y="1097280"/>
            <a:ext cx="11277295" cy="25400"/>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63040"/>
            <a:ext cx="5394960" cy="2011680"/>
          </a:xfrm>
          <a:prstGeom prst="rect">
            <a:avLst/>
          </a:prstGeom>
          <a:solidFill>
            <a:srgbClr val="FFFFFF"/>
          </a:solidFill>
          <a:ln>
            <a:solidFill>
              <a:srgbClr val="EAECEE"/>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l">
              <a:spcBef>
                <a:spcPts val="0"/>
              </a:spcBef>
              <a:spcAft>
                <a:spcPts val="400"/>
              </a:spcAft>
            </a:pPr>
            <a:r>
              <a:rPr sz="1100" b="1" i="0">
                <a:solidFill>
                  <a:srgbClr val="707B7C"/>
                </a:solidFill>
                <a:latin typeface="Arial"/>
              </a:rPr>
              <a:t>PLAYTIME VS. REVIEW SCORE (PEARSON)</a:t>
            </a:r>
          </a:p>
          <a:p>
            <a:pPr algn="l">
              <a:spcBef>
                <a:spcPts val="0"/>
              </a:spcBef>
              <a:spcAft>
                <a:spcPts val="400"/>
              </a:spcAft>
            </a:pPr>
            <a:r>
              <a:rPr sz="2400" b="1" i="0">
                <a:solidFill>
                  <a:srgbClr val="0E6251"/>
                </a:solidFill>
                <a:latin typeface="Arial"/>
              </a:rPr>
              <a:t>r = 0.01   |   p-value = 0.96</a:t>
            </a:r>
          </a:p>
          <a:p>
            <a:pPr algn="l">
              <a:spcBef>
                <a:spcPts val="0"/>
              </a:spcBef>
              <a:spcAft>
                <a:spcPts val="600"/>
              </a:spcAft>
            </a:pPr>
            <a:r>
              <a:rPr sz="1100" b="0" i="1">
                <a:solidFill>
                  <a:srgbClr val="1C2833"/>
                </a:solidFill>
                <a:latin typeface="Arial"/>
              </a:rPr>
              <a:t>There is an extremely weak positive correlation. The p-value of 0.96 is far greater than 0.05, indicating that playtime does not show a statistically significant relationship with review scores.</a:t>
            </a:r>
          </a:p>
        </p:txBody>
      </p:sp>
      <p:sp>
        <p:nvSpPr>
          <p:cNvPr id="5" name="Rectangle 4"/>
          <p:cNvSpPr/>
          <p:nvPr/>
        </p:nvSpPr>
        <p:spPr>
          <a:xfrm>
            <a:off x="6339535" y="1463040"/>
            <a:ext cx="5394960" cy="2011680"/>
          </a:xfrm>
          <a:prstGeom prst="rect">
            <a:avLst/>
          </a:prstGeom>
          <a:solidFill>
            <a:srgbClr val="FFFFFF"/>
          </a:solidFill>
          <a:ln>
            <a:solidFill>
              <a:srgbClr val="EAECEE"/>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l">
              <a:spcBef>
                <a:spcPts val="0"/>
              </a:spcBef>
              <a:spcAft>
                <a:spcPts val="400"/>
              </a:spcAft>
            </a:pPr>
            <a:r>
              <a:rPr sz="1100" b="1" i="0">
                <a:solidFill>
                  <a:srgbClr val="707B7C"/>
                </a:solidFill>
                <a:latin typeface="Arial"/>
              </a:rPr>
              <a:t>SMOKING STATUS VS. BLOOD PRESSURE (POINT-BISERIAL)</a:t>
            </a:r>
          </a:p>
          <a:p>
            <a:pPr algn="l">
              <a:spcBef>
                <a:spcPts val="0"/>
              </a:spcBef>
              <a:spcAft>
                <a:spcPts val="400"/>
              </a:spcAft>
            </a:pPr>
            <a:r>
              <a:rPr sz="2400" b="1" i="0">
                <a:solidFill>
                  <a:srgbClr val="0E6251"/>
                </a:solidFill>
                <a:latin typeface="Arial"/>
              </a:rPr>
              <a:t>r = -0.13   |   p-value = 0.16</a:t>
            </a:r>
          </a:p>
          <a:p>
            <a:pPr algn="l">
              <a:spcBef>
                <a:spcPts val="0"/>
              </a:spcBef>
              <a:spcAft>
                <a:spcPts val="600"/>
              </a:spcAft>
            </a:pPr>
            <a:r>
              <a:rPr sz="1100" b="0" i="1">
                <a:solidFill>
                  <a:srgbClr val="1C2833"/>
                </a:solidFill>
                <a:latin typeface="Arial"/>
              </a:rPr>
              <a:t>There is a weak negative association. The p-value of 0.16 is greater than 0.05, indicating that smoking status does not show a statistically significant relationship with blood pressure.</a:t>
            </a:r>
          </a:p>
        </p:txBody>
      </p:sp>
      <p:sp>
        <p:nvSpPr>
          <p:cNvPr id="6" name="TextBox 5"/>
          <p:cNvSpPr txBox="1"/>
          <p:nvPr/>
        </p:nvSpPr>
        <p:spPr>
          <a:xfrm>
            <a:off x="457200" y="3657600"/>
            <a:ext cx="11277295" cy="1980029"/>
          </a:xfrm>
          <a:prstGeom prst="rect">
            <a:avLst/>
          </a:prstGeom>
          <a:noFill/>
        </p:spPr>
        <p:txBody>
          <a:bodyPr wrap="square">
            <a:spAutoFit/>
          </a:bodyPr>
          <a:lstStyle/>
          <a:p>
            <a:pPr algn="l">
              <a:spcBef>
                <a:spcPts val="0"/>
              </a:spcBef>
              <a:spcAft>
                <a:spcPts val="800"/>
              </a:spcAft>
            </a:pPr>
            <a:r>
              <a:rPr sz="1500" b="1" i="0" dirty="0">
                <a:solidFill>
                  <a:srgbClr val="0E6251"/>
                </a:solidFill>
                <a:latin typeface="Arial"/>
              </a:rPr>
              <a:t>Deep Interpretation of Statistical Insignificance:</a:t>
            </a:r>
          </a:p>
          <a:p>
            <a:pPr algn="l">
              <a:spcBef>
                <a:spcPts val="0"/>
              </a:spcBef>
              <a:spcAft>
                <a:spcPts val="600"/>
              </a:spcAft>
            </a:pPr>
            <a:r>
              <a:rPr sz="1300" b="0" i="0" dirty="0">
                <a:solidFill>
                  <a:srgbClr val="1C2833"/>
                </a:solidFill>
                <a:latin typeface="Arial"/>
              </a:rPr>
              <a:t>• </a:t>
            </a:r>
            <a:r>
              <a:rPr sz="1300" b="1" i="0" dirty="0">
                <a:solidFill>
                  <a:srgbClr val="1C2833"/>
                </a:solidFill>
                <a:latin typeface="Arial"/>
              </a:rPr>
              <a:t>Decoupling of Playtime and Sentiment: </a:t>
            </a:r>
            <a:r>
              <a:rPr sz="1300" b="0" i="0" dirty="0">
                <a:solidFill>
                  <a:srgbClr val="1C2833"/>
                </a:solidFill>
                <a:latin typeface="Arial"/>
              </a:rPr>
              <a:t>Playing more hours does not lead to higher review scores. Player sentiment is driven by qualitative game elements, not merely hours spent playing.</a:t>
            </a:r>
          </a:p>
          <a:p>
            <a:pPr algn="l">
              <a:spcBef>
                <a:spcPts val="0"/>
              </a:spcBef>
              <a:spcAft>
                <a:spcPts val="600"/>
              </a:spcAft>
            </a:pPr>
            <a:r>
              <a:rPr sz="1300" b="0" i="0" dirty="0">
                <a:solidFill>
                  <a:srgbClr val="1C2833"/>
                </a:solidFill>
                <a:latin typeface="Arial"/>
              </a:rPr>
              <a:t>• </a:t>
            </a:r>
            <a:r>
              <a:rPr sz="1300" b="1" i="0" dirty="0">
                <a:solidFill>
                  <a:srgbClr val="1C2833"/>
                </a:solidFill>
                <a:latin typeface="Arial"/>
              </a:rPr>
              <a:t>Counter-Intuitive Group Means: </a:t>
            </a:r>
            <a:r>
              <a:rPr sz="1300" b="0" i="0" dirty="0">
                <a:solidFill>
                  <a:srgbClr val="1C2833"/>
                </a:solidFill>
                <a:latin typeface="Arial"/>
              </a:rPr>
              <a:t>The mean blood pressure of smokers is 125.95 mmHg (N = 40), whereas the mean for non-smokers is 130.10 mmHg (N = 80). While a negative correlation of -0.13 is observed, the p-value of 0.16 proves this association is not statistically significant and likely due to sampling noise.</a:t>
            </a:r>
          </a:p>
          <a:p>
            <a:pPr algn="l">
              <a:spcBef>
                <a:spcPts val="0"/>
              </a:spcBef>
              <a:spcAft>
                <a:spcPts val="600"/>
              </a:spcAft>
            </a:pPr>
            <a:r>
              <a:rPr sz="1300" b="0" i="0" dirty="0">
                <a:solidFill>
                  <a:srgbClr val="1C2833"/>
                </a:solidFill>
                <a:latin typeface="Arial"/>
              </a:rPr>
              <a:t>• </a:t>
            </a:r>
            <a:r>
              <a:rPr sz="1300" b="1" i="0" dirty="0">
                <a:solidFill>
                  <a:srgbClr val="1C2833"/>
                </a:solidFill>
                <a:latin typeface="Arial"/>
              </a:rPr>
              <a:t>Confounding Lifestyle Factors</a:t>
            </a:r>
            <a:r>
              <a:rPr sz="1300" b="0" i="0" dirty="0">
                <a:solidFill>
                  <a:srgbClr val="1C2833"/>
                </a:solidFill>
                <a:latin typeface="Arial"/>
              </a:rPr>
              <a:t>: Crucial confounding parameters</a:t>
            </a:r>
            <a:r>
              <a:rPr lang="en-IN" sz="1300" b="0" i="0" dirty="0">
                <a:solidFill>
                  <a:srgbClr val="1C2833"/>
                </a:solidFill>
                <a:latin typeface="Arial"/>
              </a:rPr>
              <a:t> </a:t>
            </a:r>
            <a:r>
              <a:rPr sz="1300" b="0" i="0" dirty="0">
                <a:solidFill>
                  <a:srgbClr val="1C2833"/>
                </a:solidFill>
                <a:latin typeface="Arial"/>
              </a:rPr>
              <a:t>such as diet, physical activity, smoking intensity/duration, and genetics</a:t>
            </a:r>
            <a:r>
              <a:rPr lang="en-IN" sz="1300" b="0" i="0" dirty="0">
                <a:solidFill>
                  <a:srgbClr val="1C2833"/>
                </a:solidFill>
                <a:latin typeface="Arial"/>
              </a:rPr>
              <a:t> </a:t>
            </a:r>
            <a:r>
              <a:rPr sz="1300" b="0" i="0" dirty="0">
                <a:solidFill>
                  <a:srgbClr val="1C2833"/>
                </a:solidFill>
                <a:latin typeface="Arial"/>
              </a:rPr>
              <a:t>were not captured, explaining why the expected clinical link was not detected.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9F6"/>
        </a:solidFill>
        <a:effectLst/>
      </p:bgPr>
    </p:bg>
    <p:spTree>
      <p:nvGrpSpPr>
        <p:cNvPr id="1" name=""/>
        <p:cNvGrpSpPr/>
        <p:nvPr/>
      </p:nvGrpSpPr>
      <p:grpSpPr>
        <a:xfrm>
          <a:off x="0" y="0"/>
          <a:ext cx="0" cy="0"/>
          <a:chOff x="0" y="0"/>
          <a:chExt cx="0" cy="0"/>
        </a:xfrm>
      </p:grpSpPr>
      <p:sp>
        <p:nvSpPr>
          <p:cNvPr id="2" name="TextBox 1"/>
          <p:cNvSpPr txBox="1"/>
          <p:nvPr/>
        </p:nvSpPr>
        <p:spPr>
          <a:xfrm>
            <a:off x="457200" y="365760"/>
            <a:ext cx="11277295" cy="369332"/>
          </a:xfrm>
          <a:prstGeom prst="rect">
            <a:avLst/>
          </a:prstGeom>
          <a:noFill/>
        </p:spPr>
        <p:txBody>
          <a:bodyPr wrap="square" lIns="0" tIns="0" rIns="0" bIns="0">
            <a:spAutoFit/>
          </a:bodyPr>
          <a:lstStyle/>
          <a:p>
            <a:pPr>
              <a:defRPr sz="2400" b="1">
                <a:solidFill>
                  <a:srgbClr val="0E6251"/>
                </a:solidFill>
                <a:latin typeface="Georgia"/>
              </a:defRPr>
            </a:pPr>
            <a:r>
              <a:rPr lang="en-IN" dirty="0"/>
              <a:t>Key Insights, Limitations &amp; Conclusion</a:t>
            </a:r>
            <a:endParaRPr dirty="0"/>
          </a:p>
        </p:txBody>
      </p:sp>
      <p:sp>
        <p:nvSpPr>
          <p:cNvPr id="3" name="Rectangle 2"/>
          <p:cNvSpPr/>
          <p:nvPr/>
        </p:nvSpPr>
        <p:spPr>
          <a:xfrm>
            <a:off x="457200" y="1097280"/>
            <a:ext cx="11277295" cy="25400"/>
          </a:xfrm>
          <a:prstGeom prst="rect">
            <a:avLst/>
          </a:prstGeom>
          <a:solidFill>
            <a:srgbClr val="D354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1463040"/>
            <a:ext cx="3383280" cy="4572000"/>
          </a:xfrm>
          <a:prstGeom prst="rect">
            <a:avLst/>
          </a:prstGeom>
          <a:solidFill>
            <a:srgbClr val="FFFFFF"/>
          </a:solidFill>
          <a:ln>
            <a:solidFill>
              <a:srgbClr val="EAECEE"/>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l">
              <a:spcBef>
                <a:spcPts val="0"/>
              </a:spcBef>
              <a:spcAft>
                <a:spcPts val="1200"/>
              </a:spcAft>
            </a:pPr>
            <a:r>
              <a:rPr sz="1500" b="1" i="0" dirty="0">
                <a:solidFill>
                  <a:srgbClr val="0E6251"/>
                </a:solidFill>
                <a:latin typeface="Arial"/>
              </a:rPr>
              <a:t>1. Game Development</a:t>
            </a:r>
          </a:p>
          <a:p>
            <a:pPr algn="l">
              <a:spcBef>
                <a:spcPts val="0"/>
              </a:spcBef>
              <a:spcAft>
                <a:spcPts val="800"/>
              </a:spcAft>
            </a:pPr>
            <a:r>
              <a:rPr sz="1200" b="0" i="0" dirty="0">
                <a:solidFill>
                  <a:srgbClr val="1C2833"/>
                </a:solidFill>
                <a:latin typeface="Arial"/>
              </a:rPr>
              <a:t>• </a:t>
            </a:r>
            <a:r>
              <a:rPr sz="1200" b="1" i="0" dirty="0">
                <a:solidFill>
                  <a:srgbClr val="1C2833"/>
                </a:solidFill>
                <a:latin typeface="Arial"/>
              </a:rPr>
              <a:t>Avoid Inflation Mechanics: </a:t>
            </a:r>
            <a:r>
              <a:rPr sz="1200" b="0" i="0" dirty="0">
                <a:solidFill>
                  <a:srgbClr val="1C2833"/>
                </a:solidFill>
                <a:latin typeface="Arial"/>
              </a:rPr>
              <a:t>Since playtime does not correlate with review scores, developers should avoid artificial 'grinding' design choices.</a:t>
            </a:r>
          </a:p>
          <a:p>
            <a:pPr algn="l">
              <a:spcBef>
                <a:spcPts val="0"/>
              </a:spcBef>
              <a:spcAft>
                <a:spcPts val="600"/>
              </a:spcAft>
            </a:pPr>
            <a:r>
              <a:rPr sz="1200" b="0" i="0" dirty="0">
                <a:solidFill>
                  <a:srgbClr val="1C2833"/>
                </a:solidFill>
                <a:latin typeface="Arial"/>
              </a:rPr>
              <a:t>• </a:t>
            </a:r>
            <a:r>
              <a:rPr sz="1200" b="1" i="0" dirty="0">
                <a:solidFill>
                  <a:srgbClr val="1C2833"/>
                </a:solidFill>
                <a:latin typeface="Arial"/>
              </a:rPr>
              <a:t>Focus on Quality: </a:t>
            </a:r>
            <a:r>
              <a:rPr sz="1200" b="0" i="0" dirty="0">
                <a:solidFill>
                  <a:srgbClr val="1C2833"/>
                </a:solidFill>
                <a:latin typeface="Arial"/>
              </a:rPr>
              <a:t>Direct development resources toward qualitative elements—narrative depth, polished mechanics, intuitive UI, and technical stability—to drive highly positive and consistent player feedback.</a:t>
            </a:r>
          </a:p>
        </p:txBody>
      </p:sp>
      <p:sp>
        <p:nvSpPr>
          <p:cNvPr id="5" name="Rectangle 4"/>
          <p:cNvSpPr/>
          <p:nvPr/>
        </p:nvSpPr>
        <p:spPr>
          <a:xfrm>
            <a:off x="4206240" y="1463040"/>
            <a:ext cx="3383280" cy="4572000"/>
          </a:xfrm>
          <a:prstGeom prst="rect">
            <a:avLst/>
          </a:prstGeom>
          <a:solidFill>
            <a:srgbClr val="FFFFFF"/>
          </a:solidFill>
          <a:ln>
            <a:solidFill>
              <a:srgbClr val="EAECEE"/>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spcAft>
                <a:spcPts val="1200"/>
              </a:spcAft>
            </a:pPr>
            <a:r>
              <a:rPr lang="en-IN" sz="1500" b="1" dirty="0">
                <a:solidFill>
                  <a:schemeClr val="tx1"/>
                </a:solidFill>
                <a:latin typeface="Arial" panose="020B0604020202020204" pitchFamily="34" charset="0"/>
                <a:cs typeface="Arial" panose="020B0604020202020204" pitchFamily="34" charset="0"/>
              </a:rPr>
              <a:t>2</a:t>
            </a:r>
            <a:r>
              <a:rPr lang="en-IN" sz="1500" b="1" dirty="0">
                <a:solidFill>
                  <a:schemeClr val="accent5">
                    <a:lumMod val="50000"/>
                  </a:schemeClr>
                </a:solidFill>
                <a:latin typeface="Arial" panose="020B0604020202020204" pitchFamily="34" charset="0"/>
                <a:cs typeface="Arial" panose="020B0604020202020204" pitchFamily="34" charset="0"/>
              </a:rPr>
              <a:t>. Health Monitoring Insights</a:t>
            </a:r>
          </a:p>
          <a:p>
            <a:pPr>
              <a:spcAft>
                <a:spcPts val="1200"/>
              </a:spcAft>
            </a:pPr>
            <a:br>
              <a:rPr lang="en-IN" sz="1600" dirty="0">
                <a:solidFill>
                  <a:schemeClr val="tx1"/>
                </a:solidFill>
              </a:rPr>
            </a:br>
            <a:r>
              <a:rPr lang="en-IN" sz="1200" dirty="0">
                <a:solidFill>
                  <a:schemeClr val="tx1"/>
                </a:solidFill>
                <a:latin typeface="Arial" panose="020B0604020202020204" pitchFamily="34" charset="0"/>
                <a:cs typeface="Arial" panose="020B0604020202020204" pitchFamily="34" charset="0"/>
              </a:rPr>
              <a:t>• The 40s group had the highest median blood pressure (138.50 mmHg).</a:t>
            </a:r>
            <a:br>
              <a:rPr lang="en-IN" sz="1200" dirty="0">
                <a:solidFill>
                  <a:schemeClr val="tx1"/>
                </a:solidFill>
                <a:latin typeface="Arial" panose="020B0604020202020204" pitchFamily="34" charset="0"/>
                <a:cs typeface="Arial" panose="020B0604020202020204" pitchFamily="34" charset="0"/>
              </a:rPr>
            </a:br>
            <a:r>
              <a:rPr lang="en-IN" sz="1200" dirty="0">
                <a:solidFill>
                  <a:schemeClr val="tx1"/>
                </a:solidFill>
                <a:latin typeface="Arial" panose="020B0604020202020204" pitchFamily="34" charset="0"/>
                <a:cs typeface="Arial" panose="020B0604020202020204" pitchFamily="34" charset="0"/>
              </a:rPr>
              <a:t>• The 60+ group had the highest variability (IQR = 28.00 mmHg).</a:t>
            </a:r>
            <a:br>
              <a:rPr lang="en-IN" sz="1200" dirty="0">
                <a:solidFill>
                  <a:schemeClr val="tx1"/>
                </a:solidFill>
                <a:latin typeface="Arial" panose="020B0604020202020204" pitchFamily="34" charset="0"/>
                <a:cs typeface="Arial" panose="020B0604020202020204" pitchFamily="34" charset="0"/>
              </a:rPr>
            </a:br>
            <a:r>
              <a:rPr lang="en-IN" sz="1200" dirty="0">
                <a:solidFill>
                  <a:schemeClr val="tx1"/>
                </a:solidFill>
                <a:latin typeface="Arial" panose="020B0604020202020204" pitchFamily="34" charset="0"/>
                <a:cs typeface="Arial" panose="020B0604020202020204" pitchFamily="34" charset="0"/>
              </a:rPr>
              <a:t>• Four statistical outliers were identified in the 30s group.</a:t>
            </a:r>
            <a:br>
              <a:rPr lang="en-IN" sz="1200" dirty="0">
                <a:solidFill>
                  <a:schemeClr val="tx1"/>
                </a:solidFill>
                <a:latin typeface="Arial" panose="020B0604020202020204" pitchFamily="34" charset="0"/>
                <a:cs typeface="Arial" panose="020B0604020202020204" pitchFamily="34" charset="0"/>
              </a:rPr>
            </a:br>
            <a:r>
              <a:rPr lang="en-IN" sz="1200" dirty="0">
                <a:solidFill>
                  <a:schemeClr val="tx1"/>
                </a:solidFill>
                <a:latin typeface="Arial" panose="020B0604020202020204" pitchFamily="34" charset="0"/>
                <a:cs typeface="Arial" panose="020B0604020202020204" pitchFamily="34" charset="0"/>
              </a:rPr>
              <a:t>• These findings are exploratory and should be investigated further using larger datasets.</a:t>
            </a:r>
            <a:endParaRPr sz="1200" b="0" i="0" dirty="0">
              <a:solidFill>
                <a:schemeClr val="tx1"/>
              </a:solidFill>
              <a:latin typeface="Arial" panose="020B0604020202020204" pitchFamily="34" charset="0"/>
              <a:cs typeface="Arial" panose="020B0604020202020204" pitchFamily="34" charset="0"/>
            </a:endParaRPr>
          </a:p>
        </p:txBody>
      </p:sp>
      <p:sp>
        <p:nvSpPr>
          <p:cNvPr id="6" name="Rectangle 5"/>
          <p:cNvSpPr/>
          <p:nvPr/>
        </p:nvSpPr>
        <p:spPr>
          <a:xfrm>
            <a:off x="7955280" y="1463040"/>
            <a:ext cx="3383280" cy="4572000"/>
          </a:xfrm>
          <a:prstGeom prst="rect">
            <a:avLst/>
          </a:prstGeom>
          <a:solidFill>
            <a:srgbClr val="FFFFFF"/>
          </a:solidFill>
          <a:ln w="19050">
            <a:solidFill>
              <a:srgbClr val="D35400"/>
            </a:solidFill>
          </a:ln>
        </p:spPr>
        <p:style>
          <a:lnRef idx="1">
            <a:schemeClr val="accent1"/>
          </a:lnRef>
          <a:fillRef idx="3">
            <a:schemeClr val="accent1"/>
          </a:fillRef>
          <a:effectRef idx="2">
            <a:schemeClr val="accent1"/>
          </a:effectRef>
          <a:fontRef idx="minor">
            <a:schemeClr val="lt1"/>
          </a:fontRef>
        </p:style>
        <p:txBody>
          <a:bodyPr wrap="square" lIns="182880" tIns="182880" rIns="182880" rtlCol="0" anchor="ctr"/>
          <a:lstStyle/>
          <a:p>
            <a:pPr algn="l">
              <a:spcBef>
                <a:spcPts val="0"/>
              </a:spcBef>
              <a:spcAft>
                <a:spcPts val="1200"/>
              </a:spcAft>
            </a:pPr>
            <a:r>
              <a:rPr sz="1500" b="1" i="0" dirty="0">
                <a:solidFill>
                  <a:srgbClr val="D35400"/>
                </a:solidFill>
                <a:latin typeface="Arial"/>
              </a:rPr>
              <a:t>3. Disclaimers &amp; Limits</a:t>
            </a:r>
          </a:p>
          <a:p>
            <a:pPr algn="l">
              <a:spcBef>
                <a:spcPts val="0"/>
              </a:spcBef>
              <a:spcAft>
                <a:spcPts val="800"/>
              </a:spcAft>
            </a:pPr>
            <a:r>
              <a:rPr sz="1200" b="0" i="0" dirty="0">
                <a:solidFill>
                  <a:srgbClr val="1C2833"/>
                </a:solidFill>
                <a:latin typeface="Arial"/>
              </a:rPr>
              <a:t>• </a:t>
            </a:r>
            <a:r>
              <a:rPr sz="1200" b="1" i="0" dirty="0">
                <a:solidFill>
                  <a:srgbClr val="1C2833"/>
                </a:solidFill>
                <a:latin typeface="Arial"/>
              </a:rPr>
              <a:t>Analytical Limitations: </a:t>
            </a:r>
            <a:r>
              <a:rPr sz="1200" b="0" i="0" dirty="0">
                <a:solidFill>
                  <a:srgbClr val="1C2833"/>
                </a:solidFill>
                <a:latin typeface="Arial"/>
              </a:rPr>
              <a:t>The datasets are small (N=60 and 120), cross-sectional snapshots, and lack key lifestyle and biological confounders (e.g., diet, genetics, daily smoking intensity).</a:t>
            </a:r>
          </a:p>
          <a:p>
            <a:pPr algn="l">
              <a:spcBef>
                <a:spcPts val="0"/>
              </a:spcBef>
              <a:spcAft>
                <a:spcPts val="400"/>
              </a:spcAft>
            </a:pPr>
            <a:r>
              <a:rPr sz="1200" b="1" i="0" dirty="0">
                <a:solidFill>
                  <a:srgbClr val="D35400"/>
                </a:solidFill>
                <a:latin typeface="Arial"/>
              </a:rPr>
              <a:t>• Clinical Disclaimer:</a:t>
            </a:r>
          </a:p>
          <a:p>
            <a:pPr algn="l">
              <a:spcBef>
                <a:spcPts val="0"/>
              </a:spcBef>
              <a:spcAft>
                <a:spcPts val="600"/>
              </a:spcAft>
            </a:pPr>
            <a:r>
              <a:rPr sz="1200" b="0" i="1" dirty="0">
                <a:solidFill>
                  <a:srgbClr val="1C2833"/>
                </a:solidFill>
                <a:latin typeface="Arial"/>
              </a:rPr>
              <a:t>The findings suggest that blood pressure variability should be examined across age groups, while the identified 30s outliers warrant further investigation in a larger dataset. These findings should not be interpreted as clinical conclusions.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TotalTime>
  <Words>2117</Words>
  <Application>Microsoft Office PowerPoint</Application>
  <PresentationFormat>Widescreen</PresentationFormat>
  <Paragraphs>105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bhaswati b</cp:lastModifiedBy>
  <cp:revision>4</cp:revision>
  <dcterms:created xsi:type="dcterms:W3CDTF">2013-01-27T09:14:16Z</dcterms:created>
  <dcterms:modified xsi:type="dcterms:W3CDTF">2026-09-03T18:30:06Z</dcterms:modified>
  <cp:category/>
</cp:coreProperties>
</file>